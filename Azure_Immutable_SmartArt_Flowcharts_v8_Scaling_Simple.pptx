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11"/>
    <p:sldId id="257" r:id="rId3"/>
    <p:sldId id="258" r:id="rId4"/>
    <p:sldId id="259" r:id="rId5"/>
    <p:sldId id="261" r:id="rId12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2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Immutable Product: End-to-End Summary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0624" y="667512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trusted CGIP base image to governed VMSS deployment, rolling upgrade, health gate and rollback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Services  |  INTERNAL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8778240" y="6537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Immutable Product • Enterprise Architecture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731520" y="1572768"/>
            <a:ext cx="950976" cy="950976"/>
          </a:xfrm>
          <a:prstGeom prst="ellipse">
            <a:avLst/>
          </a:prstGeom>
          <a:solidFill>
            <a:srgbClr val="0078D4"/>
          </a:solidFill>
          <a:ln w="1524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3776" y="263347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CGIP 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990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baseline + patch level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1700784" y="2048256"/>
            <a:ext cx="859536" cy="0"/>
          </a:xfrm>
          <a:prstGeom prst="line">
            <a:avLst/>
          </a:prstGeom>
          <a:noFill/>
          <a:ln w="2921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633472" y="1572768"/>
            <a:ext cx="950976" cy="950976"/>
          </a:xfrm>
          <a:prstGeom prst="ellipse">
            <a:avLst/>
          </a:prstGeom>
          <a:solidFill>
            <a:srgbClr val="005A9E"/>
          </a:solidFill>
          <a:ln w="1524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395728" y="263347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990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 triggers Image Builder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602736" y="2048256"/>
            <a:ext cx="859536" cy="0"/>
          </a:xfrm>
          <a:prstGeom prst="line">
            <a:avLst/>
          </a:prstGeom>
          <a:noFill/>
          <a:ln w="2921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535424" y="1572768"/>
            <a:ext cx="950976" cy="950976"/>
          </a:xfrm>
          <a:prstGeom prst="ellipse">
            <a:avLst/>
          </a:prstGeom>
          <a:solidFill>
            <a:srgbClr val="107C10"/>
          </a:solidFill>
          <a:ln w="1524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97680" y="263347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79392" y="2990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Security, boot and readiness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504688" y="2048256"/>
            <a:ext cx="859536" cy="0"/>
          </a:xfrm>
          <a:prstGeom prst="line">
            <a:avLst/>
          </a:prstGeom>
          <a:noFill/>
          <a:ln w="2921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437376" y="1572768"/>
            <a:ext cx="950976" cy="950976"/>
          </a:xfrm>
          <a:prstGeom prst="ellipse">
            <a:avLst/>
          </a:prstGeom>
          <a:solidFill>
            <a:srgbClr val="5C2D91"/>
          </a:solidFill>
          <a:ln w="1524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199632" y="263347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CDKTF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1344" y="2990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VMSS module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7406640" y="2048256"/>
            <a:ext cx="859536" cy="0"/>
          </a:xfrm>
          <a:prstGeom prst="line">
            <a:avLst/>
          </a:prstGeom>
          <a:noFill/>
          <a:ln w="2921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339328" y="1572768"/>
            <a:ext cx="950976" cy="950976"/>
          </a:xfrm>
          <a:prstGeom prst="ellipse">
            <a:avLst/>
          </a:prstGeom>
          <a:solidFill>
            <a:srgbClr val="C75B12"/>
          </a:solidFill>
          <a:ln w="1524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101584" y="263347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Upgrade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83296" y="2990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batches + max surge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9308592" y="2048256"/>
            <a:ext cx="859536" cy="0"/>
          </a:xfrm>
          <a:prstGeom prst="line">
            <a:avLst/>
          </a:prstGeom>
          <a:noFill/>
          <a:ln w="2921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0241280" y="1572768"/>
            <a:ext cx="950976" cy="950976"/>
          </a:xfrm>
          <a:prstGeom prst="ellipse">
            <a:avLst/>
          </a:prstGeom>
          <a:solidFill>
            <a:srgbClr val="17365D"/>
          </a:solidFill>
          <a:ln w="1524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0003536" y="263347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Operate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985248" y="2990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gate, repair, rollback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566928" y="36576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deck explains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" y="4096512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14400" y="4462272"/>
            <a:ext cx="502920" cy="502920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▣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591056" y="4443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Factory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591056" y="4754880"/>
            <a:ext cx="2267712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CGIP base image → ADO → AIB → immutable Compute Gallery image version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370832" y="4096512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626864" y="4462272"/>
            <a:ext cx="502920" cy="502920"/>
          </a:xfrm>
          <a:prstGeom prst="ellipse">
            <a:avLst/>
          </a:prstGeom>
          <a:solidFill>
            <a:srgbClr val="5C2D91"/>
          </a:solidFill>
          <a:ln>
            <a:solidFill>
              <a:srgbClr val="5C2D9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303520" y="4443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Deployment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0" y="4754880"/>
            <a:ext cx="2267712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CDKTF converts approved inputs into VMSS, identity, networking and autoscale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8083296" y="4096512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339328" y="4462272"/>
            <a:ext cx="502920" cy="502920"/>
          </a:xfrm>
          <a:prstGeom prst="ellipse">
            <a:avLst/>
          </a:prstGeom>
          <a:solidFill>
            <a:srgbClr val="107C10"/>
          </a:solidFill>
          <a:ln>
            <a:solidFill>
              <a:srgbClr val="107C1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015984" y="4443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Operations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015984" y="4754880"/>
            <a:ext cx="2267712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Rolling upgrade with batch controls, health probes, repair and rollback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1993392" y="5833872"/>
            <a:ext cx="8229600" cy="384048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Outcome: repeatable, auditable and recoverable Azure VMSS platform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800" b="1">
                <a:solidFill>
                  <a:srgbClr val="123049"/>
                </a:solidFill>
                <a:latin typeface="Segoe UI"/>
              </a:defRPr>
            </a:pPr>
            <a:r>
              <a:t>Health Extension + Upgrade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749807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0">
                <a:solidFill>
                  <a:srgbClr val="565656"/>
                </a:solidFill>
                <a:latin typeface="Segoe UI"/>
              </a:defRPr>
            </a:pPr>
            <a:r>
              <a:t>The upgrade moves forward only when the application reports healthy.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47472"/>
            <a:ext cx="3566160" cy="658368"/>
          </a:xfrm>
          <a:prstGeom prst="roundRect">
            <a:avLst/>
          </a:prstGeom>
          <a:solidFill>
            <a:srgbClr val="E8F3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>
              <a:defRPr sz="1500" b="1">
                <a:solidFill>
                  <a:srgbClr val="005A9E"/>
                </a:solidFill>
                <a:latin typeface="Segoe UI"/>
              </a:defRPr>
            </a:pPr>
            <a:r>
              <a:t>Gatekeeper: health decides rollout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200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005A9E"/>
                </a:solidFill>
                <a:latin typeface="Segoe UI"/>
              </a:defRPr>
            </a:pPr>
            <a:r>
              <a:t>Simple health gate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1874519" cy="1051560"/>
          </a:xfrm>
          <a:prstGeom prst="roundRect">
            <a:avLst/>
          </a:prstGeom>
          <a:solidFill>
            <a:srgbClr val="E8F3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>
              <a:defRPr sz="2100" b="1">
                <a:solidFill>
                  <a:srgbClr val="123049"/>
                </a:solidFill>
                <a:latin typeface="Segoe UI"/>
              </a:defRPr>
            </a:pPr>
            <a:r>
              <a:t>Upgrade</a:t>
            </a:r>
            <a:br/>
            <a:r>
              <a:t>Batch</a:t>
            </a:r>
          </a:p>
        </p:txBody>
      </p:sp>
      <p:sp>
        <p:nvSpPr>
          <p:cNvPr id="8" name="Oval 7"/>
          <p:cNvSpPr/>
          <p:nvPr/>
        </p:nvSpPr>
        <p:spPr>
          <a:xfrm>
            <a:off x="987552" y="3072384"/>
            <a:ext cx="164592" cy="164592"/>
          </a:xfrm>
          <a:prstGeom prst="ellipse">
            <a:avLst/>
          </a:prstGeom>
          <a:solidFill>
            <a:srgbClr val="0078D4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3072384"/>
            <a:ext cx="164592" cy="164592"/>
          </a:xfrm>
          <a:prstGeom prst="ellipse">
            <a:avLst/>
          </a:prstGeom>
          <a:solidFill>
            <a:srgbClr val="0078D4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19072" y="3072384"/>
            <a:ext cx="164592" cy="164592"/>
          </a:xfrm>
          <a:prstGeom prst="ellipse">
            <a:avLst/>
          </a:prstGeom>
          <a:solidFill>
            <a:srgbClr val="0078D4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84832" y="3072384"/>
            <a:ext cx="164592" cy="164592"/>
          </a:xfrm>
          <a:prstGeom prst="ellipse">
            <a:avLst/>
          </a:prstGeom>
          <a:solidFill>
            <a:srgbClr val="0078D4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783080"/>
            <a:ext cx="22402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D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30752" y="2048256"/>
            <a:ext cx="621792" cy="621792"/>
          </a:xfrm>
          <a:prstGeom prst="ellipse">
            <a:avLst/>
          </a:prstGeom>
          <a:solidFill>
            <a:srgbClr val="107C10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93392"/>
            <a:ext cx="9601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00" b="1">
                <a:solidFill>
                  <a:srgbClr val="123049"/>
                </a:solidFill>
                <a:latin typeface="Segoe UI"/>
              </a:defRPr>
            </a:pPr>
            <a:r>
              <a:t>Health</a:t>
            </a:r>
            <a:br/>
            <a:r>
              <a:t>Probe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78608"/>
            <a:ext cx="11155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0">
                <a:solidFill>
                  <a:srgbClr val="565656"/>
                </a:solidFill>
                <a:latin typeface="Segoe UI"/>
              </a:defRPr>
            </a:pPr>
            <a:r>
              <a:t>HTTP/TCP readiness</a:t>
            </a:r>
          </a:p>
        </p:txBody>
      </p:sp>
      <p:sp>
        <p:nvSpPr>
          <p:cNvPr id="16" name="Diamond 15"/>
          <p:cNvSpPr/>
          <p:nvPr/>
        </p:nvSpPr>
        <p:spPr>
          <a:xfrm>
            <a:off x="6510528" y="1856231"/>
            <a:ext cx="1554480" cy="1115568"/>
          </a:xfrm>
          <a:prstGeom prst="diamond">
            <a:avLst/>
          </a:prstGeom>
          <a:solidFill>
            <a:srgbClr val="FFF4E6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>
              <a:defRPr sz="1400" b="1">
                <a:solidFill>
                  <a:srgbClr val="123049"/>
                </a:solidFill>
                <a:latin typeface="Segoe UI"/>
              </a:defRPr>
            </a:pPr>
            <a:r>
              <a:t>Health</a:t>
            </a:r>
            <a:br/>
            <a:r>
              <a:t>OK?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307592"/>
            <a:ext cx="2194560" cy="822960"/>
          </a:xfrm>
          <a:prstGeom prst="roundRect">
            <a:avLst/>
          </a:prstGeom>
          <a:solidFill>
            <a:srgbClr val="E8F5E8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>
              <a:defRPr sz="1700" b="1">
                <a:solidFill>
                  <a:srgbClr val="107C10"/>
                </a:solidFill>
                <a:latin typeface="Segoe UI"/>
              </a:defRPr>
            </a:pPr>
            <a:r>
              <a:t>Continue</a:t>
            </a:r>
            <a:br/>
            <a:r>
              <a:t>Next Batch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788920"/>
            <a:ext cx="2194560" cy="822960"/>
          </a:xfrm>
          <a:prstGeom prst="roundRect">
            <a:avLst/>
          </a:prstGeom>
          <a:solidFill>
            <a:srgbClr val="FCECEA"/>
          </a:solidFill>
          <a:ln w="19050">
            <a:solidFill>
              <a:srgbClr val="C42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>
              <a:defRPr sz="1700" b="1">
                <a:solidFill>
                  <a:srgbClr val="C42B1C"/>
                </a:solidFill>
                <a:latin typeface="Segoe UI"/>
              </a:defRPr>
            </a:pPr>
            <a:r>
              <a:t>Pause /</a:t>
            </a:r>
            <a:br/>
            <a:r>
              <a:t>Rollback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70048" y="2441448"/>
            <a:ext cx="713232" cy="0"/>
          </a:xfrm>
          <a:prstGeom prst="line">
            <a:avLst/>
          </a:prstGeom>
          <a:ln w="38100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0" y="2441448"/>
            <a:ext cx="713232" cy="0"/>
          </a:xfrm>
          <a:prstGeom prst="line">
            <a:avLst/>
          </a:prstGeom>
          <a:ln w="38100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845552" y="1719072"/>
            <a:ext cx="1207008" cy="347471"/>
          </a:xfrm>
          <a:prstGeom prst="line">
            <a:avLst/>
          </a:prstGeom>
          <a:ln w="38100">
            <a:solidFill>
              <a:srgbClr val="107C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45552" y="2816352"/>
            <a:ext cx="1207008" cy="365760"/>
          </a:xfrm>
          <a:prstGeom prst="line">
            <a:avLst/>
          </a:prstGeom>
          <a:ln w="38100">
            <a:solidFill>
              <a:srgbClr val="C42B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57031" y="1572768"/>
            <a:ext cx="5486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200400"/>
            <a:ext cx="5486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00" b="1">
                <a:solidFill>
                  <a:srgbClr val="C42B1C"/>
                </a:solidFill>
                <a:latin typeface="Segoe UI"/>
              </a:defRPr>
            </a:pPr>
            <a:r>
              <a:t>FAIL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456432"/>
            <a:ext cx="7178040" cy="457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0D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>
              <a:defRPr sz="1500" b="0">
                <a:solidFill>
                  <a:srgbClr val="123049"/>
                </a:solidFill>
                <a:latin typeface="Segoe UI"/>
              </a:defRPr>
            </a:pPr>
            <a:r>
              <a:t>VMSS uses this signal as a gate before moving to the next batch.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169663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005A9E"/>
                </a:solidFill>
                <a:latin typeface="Segoe UI"/>
              </a:defRPr>
            </a:pPr>
            <a:r>
              <a:t>Upgrade policy knobs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187952"/>
            <a:ext cx="43891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565656"/>
                </a:solidFill>
                <a:latin typeface="Segoe UI"/>
              </a:defRPr>
            </a:pPr>
            <a:r>
              <a:t>Controls rollout speed, tolerance and availability.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617720"/>
            <a:ext cx="2212848" cy="103327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D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1" y="4855464"/>
            <a:ext cx="530352" cy="530352"/>
          </a:xfrm>
          <a:prstGeom prst="ellipse">
            <a:avLst/>
          </a:prstGeom>
          <a:solidFill>
            <a:srgbClr val="0078D4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73352" y="4818888"/>
            <a:ext cx="109728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123049"/>
                </a:solidFill>
                <a:latin typeface="Segoe UI"/>
              </a:defRPr>
            </a:pPr>
            <a:r>
              <a:t>Batch 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73352" y="5102352"/>
            <a:ext cx="1143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565656"/>
                </a:solidFill>
                <a:latin typeface="Segoe UI"/>
              </a:defRPr>
            </a:pPr>
            <a:r>
              <a:t>maxBatch%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73352" y="5394960"/>
            <a:ext cx="1097280" cy="45720"/>
          </a:xfrm>
          <a:prstGeom prst="rect">
            <a:avLst/>
          </a:prstGeom>
          <a:solidFill>
            <a:srgbClr val="D2D2D2"/>
          </a:solidFill>
          <a:ln w="190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286000" y="5303520"/>
            <a:ext cx="219456" cy="219456"/>
          </a:xfrm>
          <a:prstGeom prst="ellipse">
            <a:avLst/>
          </a:prstGeom>
          <a:solidFill>
            <a:srgbClr val="0078D4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85032" y="4617720"/>
            <a:ext cx="2212848" cy="103327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D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849624" y="4855464"/>
            <a:ext cx="530352" cy="530352"/>
          </a:xfrm>
          <a:prstGeom prst="ellipse">
            <a:avLst/>
          </a:prstGeom>
          <a:solidFill>
            <a:srgbClr val="107C10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818888"/>
            <a:ext cx="109728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123049"/>
                </a:solidFill>
                <a:latin typeface="Segoe UI"/>
              </a:defRPr>
            </a:pPr>
            <a:r>
              <a:t>Tolerance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9704" y="5102352"/>
            <a:ext cx="1143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565656"/>
                </a:solidFill>
                <a:latin typeface="Segoe UI"/>
              </a:defRPr>
            </a:pPr>
            <a:r>
              <a:t>unhealthy%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9704" y="5394960"/>
            <a:ext cx="1097280" cy="45720"/>
          </a:xfrm>
          <a:prstGeom prst="rect">
            <a:avLst/>
          </a:prstGeom>
          <a:solidFill>
            <a:srgbClr val="D2D2D2"/>
          </a:solidFill>
          <a:ln w="190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102352" y="5303520"/>
            <a:ext cx="219456" cy="219456"/>
          </a:xfrm>
          <a:prstGeom prst="ellipse">
            <a:avLst/>
          </a:prstGeom>
          <a:solidFill>
            <a:srgbClr val="107C10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01384" y="4617720"/>
            <a:ext cx="2212848" cy="103327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D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665976" y="4855464"/>
            <a:ext cx="530352" cy="530352"/>
          </a:xfrm>
          <a:prstGeom prst="ellipse">
            <a:avLst/>
          </a:prstGeom>
          <a:solidFill>
            <a:srgbClr val="FF8C0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6056" y="4818888"/>
            <a:ext cx="109728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123049"/>
                </a:solidFill>
                <a:latin typeface="Segoe UI"/>
              </a:defRPr>
            </a:pPr>
            <a:r>
              <a:t>Pause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06056" y="5102352"/>
            <a:ext cx="1143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565656"/>
                </a:solidFill>
                <a:latin typeface="Segoe UI"/>
              </a:defRPr>
            </a:pPr>
            <a:r>
              <a:t>between batches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06056" y="5394960"/>
            <a:ext cx="1097280" cy="45720"/>
          </a:xfrm>
          <a:prstGeom prst="rect">
            <a:avLst/>
          </a:prstGeom>
          <a:solidFill>
            <a:srgbClr val="D2D2D2"/>
          </a:solidFill>
          <a:ln w="190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18704" y="5303520"/>
            <a:ext cx="219456" cy="219456"/>
          </a:xfrm>
          <a:prstGeom prst="ellipse">
            <a:avLst/>
          </a:prstGeom>
          <a:solidFill>
            <a:srgbClr val="FF8C0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317736" y="4617720"/>
            <a:ext cx="2212848" cy="103327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D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482328" y="4855464"/>
            <a:ext cx="530352" cy="530352"/>
          </a:xfrm>
          <a:prstGeom prst="ellipse">
            <a:avLst/>
          </a:prstGeom>
          <a:solidFill>
            <a:srgbClr val="6264A7"/>
          </a:solidFill>
          <a:ln w="19050">
            <a:solidFill>
              <a:srgbClr val="62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22408" y="4818888"/>
            <a:ext cx="109728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123049"/>
                </a:solidFill>
                <a:latin typeface="Segoe UI"/>
              </a:defRPr>
            </a:pPr>
            <a:r>
              <a:t>Surge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22408" y="5102352"/>
            <a:ext cx="1143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565656"/>
                </a:solidFill>
                <a:latin typeface="Segoe UI"/>
              </a:defRPr>
            </a:pPr>
            <a:r>
              <a:t>extra capacity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22408" y="5394960"/>
            <a:ext cx="1097280" cy="45720"/>
          </a:xfrm>
          <a:prstGeom prst="rect">
            <a:avLst/>
          </a:prstGeom>
          <a:solidFill>
            <a:srgbClr val="D2D2D2"/>
          </a:solidFill>
          <a:ln w="190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735056" y="5303520"/>
            <a:ext cx="219456" cy="219456"/>
          </a:xfrm>
          <a:prstGeom prst="ellipse">
            <a:avLst/>
          </a:prstGeom>
          <a:solidFill>
            <a:srgbClr val="6264A7"/>
          </a:solidFill>
          <a:ln w="19050">
            <a:solidFill>
              <a:srgbClr val="62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47104"/>
            <a:ext cx="27432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65656"/>
                </a:solidFill>
                <a:latin typeface="Segoe UI"/>
              </a:defRPr>
            </a:pPr>
            <a:r>
              <a:t>Cloud Services  |  INTERNAL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6547104"/>
            <a:ext cx="2468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Segoe UI"/>
              </a:defRPr>
            </a:pPr>
            <a:r>
              <a:t>Azure Immutable Product • Enterprise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VMSS Creation Using CDKTF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0624" y="667512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Step-down deployment process with governance, platform defaults, and Day-2 operations built in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Services  |  INTERNAL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8778240" y="6537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Immutable Product • Enterprise Architecture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640080" y="9326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VMSS creation flow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1225296"/>
            <a:ext cx="6126480" cy="658368"/>
          </a:xfrm>
          <a:prstGeom prst="roundRect">
            <a:avLst/>
          </a:prstGeom>
          <a:solidFill>
            <a:srgbClr val="D9ECFF"/>
          </a:solidFill>
          <a:ln w="15240">
            <a:solidFill>
              <a:srgbClr val="0078D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 ☰   Capture Inputs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Application, environment, VM SKU, image version, instance count, tags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69848" y="1938528"/>
            <a:ext cx="6126480" cy="658368"/>
          </a:xfrm>
          <a:prstGeom prst="roundRect">
            <a:avLst/>
          </a:prstGeom>
          <a:solidFill>
            <a:srgbClr val="E8F1FF"/>
          </a:solidFill>
          <a:ln w="15240">
            <a:solidFill>
              <a:srgbClr val="005A9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 ⚙   Run CDKTF Module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VMSS module injects network, identity, diagnostics and guardrails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53896" y="2651760"/>
            <a:ext cx="6126480" cy="658368"/>
          </a:xfrm>
          <a:prstGeom prst="roundRect">
            <a:avLst/>
          </a:prstGeom>
          <a:solidFill>
            <a:srgbClr val="E7F6E7"/>
          </a:solidFill>
          <a:ln w="15240">
            <a:solidFill>
              <a:srgbClr val="107C1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 ✓   Terraform Plan + Approval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plan, review changes, and use Required Review before apply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37944" y="3364992"/>
            <a:ext cx="6126480" cy="658368"/>
          </a:xfrm>
          <a:prstGeom prst="roundRect">
            <a:avLst/>
          </a:prstGeom>
          <a:solidFill>
            <a:srgbClr val="E9F5FF"/>
          </a:solidFill>
          <a:ln w="15240">
            <a:solidFill>
              <a:srgbClr val="0078D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 ☁   Provision Azure VMSS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VMSS, NICs, load balancer, autoscale profile, probe and extension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21992" y="4078224"/>
            <a:ext cx="6126480" cy="658368"/>
          </a:xfrm>
          <a:prstGeom prst="roundRect">
            <a:avLst/>
          </a:prstGeom>
          <a:solidFill>
            <a:srgbClr val="FFF0DA"/>
          </a:solidFill>
          <a:ln w="15240">
            <a:solidFill>
              <a:srgbClr val="C75B1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  ↯   Post-Deployment Automation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/ Automation Account runs domain join and configuration tasks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4791456"/>
            <a:ext cx="6126480" cy="658368"/>
          </a:xfrm>
          <a:prstGeom prst="roundRect">
            <a:avLst/>
          </a:prstGeom>
          <a:solidFill>
            <a:srgbClr val="EFE7FA"/>
          </a:solidFill>
          <a:ln w="15240">
            <a:solidFill>
              <a:srgbClr val="5C2D9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  ↻   Operate + Self-Heal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Scale, monitor health, auto-repair and reimage unhealthy instances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87968" y="1097280"/>
            <a:ext cx="2816352" cy="45720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Output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87968" y="1627632"/>
            <a:ext cx="2816352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651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3728" y="187452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D9ECFF"/>
          </a:solidFill>
          <a:ln w="11430">
            <a:solidFill>
              <a:srgbClr val="0078D4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▣  Virtual Machine Scale Set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253728" y="251460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E7F6E7"/>
          </a:solidFill>
          <a:ln w="11430">
            <a:solidFill>
              <a:srgbClr val="107C10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 Managed Identity + RBAC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253728" y="315468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FF0DA"/>
          </a:solidFill>
          <a:ln w="11430">
            <a:solidFill>
              <a:srgbClr val="C75B12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  Load Balancer + Probe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253728" y="379476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EFE7FA"/>
          </a:solidFill>
          <a:ln w="11430">
            <a:solidFill>
              <a:srgbClr val="5C2D91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▤  Autoscale Rules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253728" y="443484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EEEEE"/>
          </a:solidFill>
          <a:ln w="11430">
            <a:solidFill>
              <a:srgbClr val="C43E1C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♡  Health Extension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253728" y="507492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EAF6FF"/>
          </a:solidFill>
          <a:ln w="11430">
            <a:solidFill>
              <a:srgbClr val="0078D4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↻  Auto Repair / Reimage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092440" y="3035808"/>
            <a:ext cx="621792" cy="347472"/>
          </a:xfrm>
          <a:prstGeom prst="rightArrow">
            <a:avLst/>
          </a:prstGeom>
          <a:solidFill>
            <a:srgbClr val="1736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720" y="57150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for rolling upgrades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Image Creation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0624" y="667512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Vertical chevron flow: trusted CGIP base image to approved Compute Gallery version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Services  |  INTERNAL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8778240" y="6537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Immutable Product • Enterprise Architecture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PLANE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548640" y="1216152"/>
            <a:ext cx="2057400" cy="425196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 Pipeline</a:t>
            </a:r>
            <a:endParaRPr lang="en-US" sz="1030" dirty="0"/>
          </a:p>
          <a:p>
            <a:pPr algn="ctr" indent="0" marL="0">
              <a:buNone/>
            </a:pP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Artifacts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notes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logs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3063240" y="1051560"/>
            <a:ext cx="5760720" cy="658368"/>
          </a:xfrm>
          <a:prstGeom prst="chevron">
            <a:avLst/>
          </a:prstGeom>
          <a:solidFill>
            <a:srgbClr val="0078D4"/>
          </a:solidFill>
          <a:ln>
            <a:solidFill>
              <a:srgbClr val="FFFFFF">
                <a:alpha val="6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 CGIP Base Image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Enterprise-approved OS baseline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1783080"/>
            <a:ext cx="5760720" cy="658368"/>
          </a:xfrm>
          <a:prstGeom prst="chevron">
            <a:avLst/>
          </a:prstGeom>
          <a:solidFill>
            <a:srgbClr val="005A9E"/>
          </a:solidFill>
          <a:ln>
            <a:solidFill>
              <a:srgbClr val="FFFFFF">
                <a:alpha val="6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 Build Request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Version, template and artifacts passed by ADO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3240" y="2514600"/>
            <a:ext cx="5760720" cy="658368"/>
          </a:xfrm>
          <a:prstGeom prst="chevron">
            <a:avLst/>
          </a:prstGeom>
          <a:solidFill>
            <a:srgbClr val="5C2D91"/>
          </a:solidFill>
          <a:ln>
            <a:solidFill>
              <a:srgbClr val="FFFFFF">
                <a:alpha val="6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 Azure Image Builder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in staging RG with managed identity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3246120"/>
            <a:ext cx="5760720" cy="658368"/>
          </a:xfrm>
          <a:prstGeom prst="chevron">
            <a:avLst/>
          </a:prstGeom>
          <a:solidFill>
            <a:srgbClr val="C75B12"/>
          </a:solidFill>
          <a:ln>
            <a:solidFill>
              <a:srgbClr val="FFFFFF">
                <a:alpha val="6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 Customize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Agents, certs, security config and prerequisites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63240" y="3977640"/>
            <a:ext cx="5760720" cy="658368"/>
          </a:xfrm>
          <a:prstGeom prst="chevron">
            <a:avLst/>
          </a:prstGeom>
          <a:solidFill>
            <a:srgbClr val="107C10"/>
          </a:solidFill>
          <a:ln>
            <a:solidFill>
              <a:srgbClr val="FFFFFF">
                <a:alpha val="6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  Validate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Boot, hardening, extension and readiness checks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63240" y="4709160"/>
            <a:ext cx="5760720" cy="658368"/>
          </a:xfrm>
          <a:prstGeom prst="chevron">
            <a:avLst/>
          </a:prstGeom>
          <a:solidFill>
            <a:srgbClr val="17365D"/>
          </a:solidFill>
          <a:ln>
            <a:solidFill>
              <a:srgbClr val="FFFFFF">
                <a:alpha val="6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  Publish Version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Compute Gallery image version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235440" y="960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&amp; EVIDENCE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9372600" y="1307592"/>
            <a:ext cx="190195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7C10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Security scan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9372600" y="1874520"/>
            <a:ext cx="190195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Boot validation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9372600" y="2441448"/>
            <a:ext cx="190195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5B12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Approver gate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9372600" y="3008376"/>
            <a:ext cx="190195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C2D91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Metadata captured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9372600" y="3575304"/>
            <a:ext cx="190195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365D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Rollback ready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063240" y="5669280"/>
            <a:ext cx="8183880" cy="384048"/>
          </a:xfrm>
          <a:prstGeom prst="roundRect">
            <a:avLst/>
          </a:prstGeom>
          <a:solidFill>
            <a:srgbClr val="E7F6E7"/>
          </a:solidFill>
          <a:ln w="12700">
            <a:solidFill>
              <a:srgbClr val="107C1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approved immutable Compute Gallery image version consumed by CDKTF / VMSS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VMSS Rolling Image Upgrade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0624" y="667512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Batch-based rollout with health gate, pause, and rollback path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Services  |  INTERNAL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8778240" y="6537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Immutable Product • Enterprise Architecture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Upgrade path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960120" cy="960120"/>
          </a:xfrm>
          <a:prstGeom prst="ellipse">
            <a:avLst/>
          </a:prstGeom>
          <a:solidFill>
            <a:srgbClr val="0078D4"/>
          </a:solidFill>
          <a:ln w="1524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2852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image version selected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1783080" y="2313432"/>
            <a:ext cx="1051560" cy="0"/>
          </a:xfrm>
          <a:prstGeom prst="line">
            <a:avLst/>
          </a:prstGeom>
          <a:noFill/>
          <a:ln w="292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926080" y="1828800"/>
            <a:ext cx="960120" cy="960120"/>
          </a:xfrm>
          <a:prstGeom prst="ellipse">
            <a:avLst/>
          </a:prstGeom>
          <a:solidFill>
            <a:srgbClr val="005A9E"/>
          </a:solidFill>
          <a:ln w="1524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2697480" y="2852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25% of instances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3931920" y="2313432"/>
            <a:ext cx="1051560" cy="0"/>
          </a:xfrm>
          <a:prstGeom prst="line">
            <a:avLst/>
          </a:prstGeom>
          <a:noFill/>
          <a:ln w="292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074920" y="1828800"/>
            <a:ext cx="960120" cy="960120"/>
          </a:xfrm>
          <a:prstGeom prst="ellipse">
            <a:avLst/>
          </a:prstGeom>
          <a:solidFill>
            <a:srgbClr val="5C2D91"/>
          </a:solidFill>
          <a:ln w="1524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Surge /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846320" y="2852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preserved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080760" y="2313432"/>
            <a:ext cx="1051560" cy="0"/>
          </a:xfrm>
          <a:prstGeom prst="line">
            <a:avLst/>
          </a:prstGeom>
          <a:noFill/>
          <a:ln w="292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223760" y="1828800"/>
            <a:ext cx="960120" cy="960120"/>
          </a:xfrm>
          <a:prstGeom prst="ellipse">
            <a:avLst/>
          </a:prstGeom>
          <a:solidFill>
            <a:srgbClr val="107C10"/>
          </a:solidFill>
          <a:ln w="1524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995160" y="2852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Probe must pass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8229600" y="2313432"/>
            <a:ext cx="1051560" cy="0"/>
          </a:xfrm>
          <a:prstGeom prst="line">
            <a:avLst/>
          </a:prstGeom>
          <a:noFill/>
          <a:ln w="292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372600" y="1828800"/>
            <a:ext cx="960120" cy="960120"/>
          </a:xfrm>
          <a:prstGeom prst="ellipse">
            <a:avLst/>
          </a:prstGeom>
          <a:solidFill>
            <a:srgbClr val="17365D"/>
          </a:solidFill>
          <a:ln w="1524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9144000" y="2852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batch starts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731520" y="3886200"/>
            <a:ext cx="36576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ROLLING SETTINGS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25%  •  Max Surge  •  Pause  •  Unhealthy Limit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3886200"/>
            <a:ext cx="3063240" cy="1188720"/>
          </a:xfrm>
          <a:prstGeom prst="roundRect">
            <a:avLst/>
          </a:prstGeom>
          <a:solidFill>
            <a:srgbClr val="E7F6E7"/>
          </a:solidFill>
          <a:ln w="15240">
            <a:solidFill>
              <a:srgbClr val="107C1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GATE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Upgrade continues only after application health or load balancer probe reports healthy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09560" y="3886200"/>
            <a:ext cx="3474720" cy="1188720"/>
          </a:xfrm>
          <a:prstGeom prst="roundRect">
            <a:avLst/>
          </a:prstGeom>
          <a:solidFill>
            <a:srgbClr val="FDE8E1"/>
          </a:solidFill>
          <a:ln w="15240">
            <a:solidFill>
              <a:srgbClr val="C43E1C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HEALTH FAILS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Pause upgrade  →  Rollback version  →  Capture diagnostics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502920" y="201168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Segoe UI"/>
              </a:defRPr>
            </a:pPr>
            <a:r>
              <a:t>VMSS Scaling Policies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512064" y="658368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4E4E"/>
                </a:solidFill>
                <a:latin typeface="Segoe UI"/>
              </a:defRPr>
            </a:pPr>
            <a:r>
              <a:t>Simple visual flow: scaling trigger → rule evaluation → capacity action</a:t>
            </a:r>
          </a:p>
        </p:txBody>
      </p:sp>
      <p:sp>
        <p:nvSpPr>
          <p:cNvPr id="4" name="decor"/>
          <p:cNvSpPr/>
          <p:nvPr/>
        </p:nvSpPr>
        <p:spPr>
          <a:xfrm>
            <a:off x="502920" y="950976"/>
            <a:ext cx="11247120" cy="18288"/>
          </a:xfrm>
          <a:prstGeom prst="rect">
            <a:avLst/>
          </a:prstGeom>
          <a:solidFill>
            <a:srgbClr val="B9CDE1"/>
          </a:solidFill>
          <a:ln>
            <a:solidFill>
              <a:srgbClr val="B9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868680" y="1143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1  Trigger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782312" y="1143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2  Evaluate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8915400" y="1143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3  Act</a:t>
            </a:r>
          </a:p>
        </p:txBody>
      </p:sp>
      <p:cxnSp>
        <p:nvCxnSpPr>
          <p:cNvPr id="9" name="connector"/>
          <p:cNvCxnSpPr/>
          <p:nvPr/>
        </p:nvCxnSpPr>
        <p:spPr>
          <a:xfrm>
            <a:off x="3520440" y="1938528"/>
            <a:ext cx="1051560" cy="603504"/>
          </a:xfrm>
          <a:prstGeom prst="line">
            <a:avLst/>
          </a:prstGeom>
          <a:ln w="28575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"/>
          <p:cNvCxnSpPr/>
          <p:nvPr/>
        </p:nvCxnSpPr>
        <p:spPr>
          <a:xfrm flipV="1">
            <a:off x="3520440" y="2788920"/>
            <a:ext cx="1051560" cy="64008"/>
          </a:xfrm>
          <a:prstGeom prst="line">
            <a:avLst/>
          </a:prstGeom>
          <a:ln w="28575">
            <a:solidFill>
              <a:srgbClr val="FF7F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"/>
          <p:cNvCxnSpPr/>
          <p:nvPr/>
        </p:nvCxnSpPr>
        <p:spPr>
          <a:xfrm flipV="1">
            <a:off x="3520440" y="3035808"/>
            <a:ext cx="1051560" cy="713231"/>
          </a:xfrm>
          <a:prstGeom prst="line">
            <a:avLst/>
          </a:prstGeom>
          <a:ln w="28575"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"/>
          <p:cNvCxnSpPr/>
          <p:nvPr/>
        </p:nvCxnSpPr>
        <p:spPr>
          <a:xfrm>
            <a:off x="6537960" y="2788920"/>
            <a:ext cx="429768" cy="0"/>
          </a:xfrm>
          <a:prstGeom prst="line">
            <a:avLst/>
          </a:prstGeom>
          <a:ln w="28575">
            <a:solidFill>
              <a:srgbClr val="005A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"/>
          <p:cNvCxnSpPr/>
          <p:nvPr/>
        </p:nvCxnSpPr>
        <p:spPr>
          <a:xfrm flipV="1">
            <a:off x="7973568" y="1901952"/>
            <a:ext cx="758952" cy="329184"/>
          </a:xfrm>
          <a:prstGeom prst="line">
            <a:avLst/>
          </a:prstGeom>
          <a:ln w="28575"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"/>
          <p:cNvCxnSpPr/>
          <p:nvPr/>
        </p:nvCxnSpPr>
        <p:spPr>
          <a:xfrm>
            <a:off x="7973568" y="2807208"/>
            <a:ext cx="758952" cy="9144"/>
          </a:xfrm>
          <a:prstGeom prst="line">
            <a:avLst/>
          </a:prstGeom>
          <a:ln w="28575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"/>
          <p:cNvCxnSpPr/>
          <p:nvPr/>
        </p:nvCxnSpPr>
        <p:spPr>
          <a:xfrm>
            <a:off x="7973568" y="3383280"/>
            <a:ext cx="758952" cy="384048"/>
          </a:xfrm>
          <a:prstGeom prst="line">
            <a:avLst/>
          </a:prstGeom>
          <a:ln w="28575">
            <a:solidFill>
              <a:srgbClr val="C42B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rd"/>
          <p:cNvSpPr/>
          <p:nvPr/>
        </p:nvSpPr>
        <p:spPr>
          <a:xfrm>
            <a:off x="594360" y="1609344"/>
            <a:ext cx="2926080" cy="694944"/>
          </a:xfrm>
          <a:prstGeom prst="roundRect">
            <a:avLst/>
          </a:prstGeom>
          <a:solidFill>
            <a:srgbClr val="E8F4FF"/>
          </a:solidFill>
          <a:ln w="1587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658368"/>
          <a:lstStyle/>
          <a:p>
            <a:pPr algn="ctr">
              <a:defRPr sz="1350" b="1">
                <a:solidFill>
                  <a:srgbClr val="102A43"/>
                </a:solidFill>
                <a:latin typeface="Segoe UI"/>
              </a:defRPr>
            </a:pPr>
            <a:r>
              <a:t>Manual / Fixed</a:t>
            </a:r>
          </a:p>
          <a:p>
            <a:pPr>
              <a:defRPr sz="950">
                <a:solidFill>
                  <a:srgbClr val="4E4E4E"/>
                </a:solidFill>
                <a:latin typeface="Segoe UI"/>
              </a:defRPr>
            </a:pPr>
            <a:r>
              <a:t>Operator sets desired capacity</a:t>
            </a:r>
          </a:p>
        </p:txBody>
      </p:sp>
      <p:sp>
        <p:nvSpPr>
          <p:cNvPr id="17" name="icon"/>
          <p:cNvSpPr/>
          <p:nvPr/>
        </p:nvSpPr>
        <p:spPr>
          <a:xfrm>
            <a:off x="704088" y="1746504"/>
            <a:ext cx="420624" cy="420624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✎</a:t>
            </a:r>
          </a:p>
        </p:txBody>
      </p:sp>
      <p:sp>
        <p:nvSpPr>
          <p:cNvPr id="18" name="card"/>
          <p:cNvSpPr/>
          <p:nvPr/>
        </p:nvSpPr>
        <p:spPr>
          <a:xfrm>
            <a:off x="594360" y="2523744"/>
            <a:ext cx="2926080" cy="694944"/>
          </a:xfrm>
          <a:prstGeom prst="roundRect">
            <a:avLst/>
          </a:prstGeom>
          <a:solidFill>
            <a:srgbClr val="FFF4E8"/>
          </a:solidFill>
          <a:ln w="15875">
            <a:solidFill>
              <a:srgbClr val="FF7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658368"/>
          <a:lstStyle/>
          <a:p>
            <a:pPr algn="ctr">
              <a:defRPr sz="1350" b="1">
                <a:solidFill>
                  <a:srgbClr val="102A43"/>
                </a:solidFill>
                <a:latin typeface="Segoe UI"/>
              </a:defRPr>
            </a:pPr>
            <a:r>
              <a:t>Scheduled</a:t>
            </a:r>
          </a:p>
          <a:p>
            <a:pPr>
              <a:defRPr sz="950">
                <a:solidFill>
                  <a:srgbClr val="4E4E4E"/>
                </a:solidFill>
                <a:latin typeface="Segoe UI"/>
              </a:defRPr>
            </a:pPr>
            <a:r>
              <a:t>Business hours / batch window</a:t>
            </a:r>
          </a:p>
        </p:txBody>
      </p:sp>
      <p:sp>
        <p:nvSpPr>
          <p:cNvPr id="19" name="icon"/>
          <p:cNvSpPr/>
          <p:nvPr/>
        </p:nvSpPr>
        <p:spPr>
          <a:xfrm>
            <a:off x="704088" y="2660903"/>
            <a:ext cx="420624" cy="420624"/>
          </a:xfrm>
          <a:prstGeom prst="ellipse">
            <a:avLst/>
          </a:prstGeom>
          <a:solidFill>
            <a:srgbClr val="FF7F11"/>
          </a:solidFill>
          <a:ln>
            <a:solidFill>
              <a:srgbClr val="FF7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⌚</a:t>
            </a:r>
          </a:p>
        </p:txBody>
      </p:sp>
      <p:sp>
        <p:nvSpPr>
          <p:cNvPr id="20" name="card"/>
          <p:cNvSpPr/>
          <p:nvPr/>
        </p:nvSpPr>
        <p:spPr>
          <a:xfrm>
            <a:off x="594360" y="3438144"/>
            <a:ext cx="2926080" cy="768096"/>
          </a:xfrm>
          <a:prstGeom prst="roundRect">
            <a:avLst/>
          </a:prstGeom>
          <a:solidFill>
            <a:srgbClr val="E9F7E9"/>
          </a:solidFill>
          <a:ln w="15875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658368"/>
          <a:lstStyle/>
          <a:p>
            <a:pPr algn="ctr">
              <a:defRPr sz="1350" b="1">
                <a:solidFill>
                  <a:srgbClr val="102A43"/>
                </a:solidFill>
                <a:latin typeface="Segoe UI"/>
              </a:defRPr>
            </a:pPr>
            <a:r>
              <a:t>Metric Autoscale</a:t>
            </a:r>
          </a:p>
          <a:p>
            <a:pPr>
              <a:defRPr sz="950">
                <a:solidFill>
                  <a:srgbClr val="4E4E4E"/>
                </a:solidFill>
                <a:latin typeface="Segoe UI"/>
              </a:defRPr>
            </a:pPr>
            <a:r>
              <a:t>CPU • memory • queue • custom</a:t>
            </a:r>
          </a:p>
        </p:txBody>
      </p:sp>
      <p:sp>
        <p:nvSpPr>
          <p:cNvPr id="21" name="icon"/>
          <p:cNvSpPr/>
          <p:nvPr/>
        </p:nvSpPr>
        <p:spPr>
          <a:xfrm>
            <a:off x="704088" y="3611879"/>
            <a:ext cx="420624" cy="420624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↕</a:t>
            </a:r>
          </a:p>
        </p:txBody>
      </p:sp>
      <p:sp>
        <p:nvSpPr>
          <p:cNvPr id="22" name="engine"/>
          <p:cNvSpPr/>
          <p:nvPr/>
        </p:nvSpPr>
        <p:spPr>
          <a:xfrm>
            <a:off x="4617720" y="2212848"/>
            <a:ext cx="1874519" cy="1124712"/>
          </a:xfrm>
          <a:prstGeom prst="roundRect">
            <a:avLst/>
          </a:prstGeom>
          <a:solidFill>
            <a:srgbClr val="005A9E"/>
          </a:solidFill>
          <a:ln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Autoscale</a:t>
            </a:r>
          </a:p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Engine</a:t>
            </a:r>
          </a:p>
        </p:txBody>
      </p:sp>
      <p:sp>
        <p:nvSpPr>
          <p:cNvPr id="23" name="card"/>
          <p:cNvSpPr/>
          <p:nvPr/>
        </p:nvSpPr>
        <p:spPr>
          <a:xfrm>
            <a:off x="4160520" y="3931920"/>
            <a:ext cx="2788920" cy="640080"/>
          </a:xfrm>
          <a:prstGeom prst="roundRect">
            <a:avLst/>
          </a:prstGeom>
          <a:solidFill>
            <a:srgbClr val="F4EEFF"/>
          </a:solidFill>
          <a:ln w="15875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658368"/>
          <a:lstStyle/>
          <a:p>
            <a:pPr algn="ctr">
              <a:defRPr sz="1300" b="1">
                <a:solidFill>
                  <a:srgbClr val="102A43"/>
                </a:solidFill>
                <a:latin typeface="Segoe UI"/>
              </a:defRPr>
            </a:pPr>
            <a:r>
              <a:t>Policy Guardrails</a:t>
            </a:r>
          </a:p>
          <a:p>
            <a:pPr>
              <a:defRPr sz="900">
                <a:solidFill>
                  <a:srgbClr val="4E4E4E"/>
                </a:solidFill>
                <a:latin typeface="Segoe UI"/>
              </a:defRPr>
            </a:pPr>
            <a:r>
              <a:t>min / default / max + cooldown</a:t>
            </a:r>
          </a:p>
        </p:txBody>
      </p:sp>
      <p:sp>
        <p:nvSpPr>
          <p:cNvPr id="24" name="icon"/>
          <p:cNvSpPr/>
          <p:nvPr/>
        </p:nvSpPr>
        <p:spPr>
          <a:xfrm>
            <a:off x="4270248" y="4041647"/>
            <a:ext cx="420624" cy="420624"/>
          </a:xfrm>
          <a:prstGeom prst="ellipse">
            <a:avLst/>
          </a:prstGeom>
          <a:solidFill>
            <a:srgbClr val="5C2D91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5" name="capacity"/>
          <p:cNvSpPr/>
          <p:nvPr/>
        </p:nvSpPr>
        <p:spPr>
          <a:xfrm>
            <a:off x="6995160" y="1965960"/>
            <a:ext cx="91440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7086600" y="2066543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02A43"/>
                </a:solidFill>
                <a:latin typeface="Segoe UI"/>
              </a:defRPr>
            </a:pPr>
            <a:r>
              <a:t>VMSS</a:t>
            </a:r>
            <a:br/>
            <a:r>
              <a:t>Capacity</a:t>
            </a:r>
          </a:p>
        </p:txBody>
      </p:sp>
      <p:sp>
        <p:nvSpPr>
          <p:cNvPr id="27" name="capacity_bar"/>
          <p:cNvSpPr/>
          <p:nvPr/>
        </p:nvSpPr>
        <p:spPr>
          <a:xfrm>
            <a:off x="7205472" y="2971800"/>
            <a:ext cx="100584" cy="1828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pacity_bar"/>
          <p:cNvSpPr/>
          <p:nvPr/>
        </p:nvSpPr>
        <p:spPr>
          <a:xfrm>
            <a:off x="7360920" y="2825496"/>
            <a:ext cx="100584" cy="329184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pacity_bar"/>
          <p:cNvSpPr/>
          <p:nvPr/>
        </p:nvSpPr>
        <p:spPr>
          <a:xfrm>
            <a:off x="7516368" y="2679192"/>
            <a:ext cx="100584" cy="475488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"/>
          <p:cNvSpPr/>
          <p:nvPr/>
        </p:nvSpPr>
        <p:spPr>
          <a:xfrm>
            <a:off x="8732520" y="1609344"/>
            <a:ext cx="2788920" cy="694944"/>
          </a:xfrm>
          <a:prstGeom prst="roundRect">
            <a:avLst/>
          </a:prstGeom>
          <a:solidFill>
            <a:srgbClr val="E9F7E9"/>
          </a:solidFill>
          <a:ln w="15875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658368"/>
          <a:lstStyle/>
          <a:p>
            <a:pPr algn="ctr">
              <a:defRPr sz="1350" b="1">
                <a:solidFill>
                  <a:srgbClr val="102A43"/>
                </a:solidFill>
                <a:latin typeface="Segoe UI"/>
              </a:defRPr>
            </a:pPr>
            <a:r>
              <a:t>Scale Out</a:t>
            </a:r>
          </a:p>
          <a:p>
            <a:pPr>
              <a:defRPr sz="950">
                <a:solidFill>
                  <a:srgbClr val="4E4E4E"/>
                </a:solidFill>
                <a:latin typeface="Segoe UI"/>
              </a:defRPr>
            </a:pPr>
            <a:r>
              <a:t>Add instances</a:t>
            </a:r>
          </a:p>
        </p:txBody>
      </p:sp>
      <p:sp>
        <p:nvSpPr>
          <p:cNvPr id="31" name="icon"/>
          <p:cNvSpPr/>
          <p:nvPr/>
        </p:nvSpPr>
        <p:spPr>
          <a:xfrm>
            <a:off x="8842248" y="1746504"/>
            <a:ext cx="420624" cy="420624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32" name="card"/>
          <p:cNvSpPr/>
          <p:nvPr/>
        </p:nvSpPr>
        <p:spPr>
          <a:xfrm>
            <a:off x="8732520" y="2523744"/>
            <a:ext cx="2788920" cy="694944"/>
          </a:xfrm>
          <a:prstGeom prst="roundRect">
            <a:avLst/>
          </a:prstGeom>
          <a:solidFill>
            <a:srgbClr val="E8F4FF"/>
          </a:solidFill>
          <a:ln w="1587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658368"/>
          <a:lstStyle/>
          <a:p>
            <a:pPr algn="ctr">
              <a:defRPr sz="1350" b="1">
                <a:solidFill>
                  <a:srgbClr val="102A43"/>
                </a:solidFill>
                <a:latin typeface="Segoe UI"/>
              </a:defRPr>
            </a:pPr>
            <a:r>
              <a:t>Hold Capacity</a:t>
            </a:r>
          </a:p>
          <a:p>
            <a:pPr>
              <a:defRPr sz="950">
                <a:solidFill>
                  <a:srgbClr val="4E4E4E"/>
                </a:solidFill>
                <a:latin typeface="Segoe UI"/>
              </a:defRPr>
            </a:pPr>
            <a:r>
              <a:t>No change</a:t>
            </a:r>
          </a:p>
        </p:txBody>
      </p:sp>
      <p:sp>
        <p:nvSpPr>
          <p:cNvPr id="33" name="icon"/>
          <p:cNvSpPr/>
          <p:nvPr/>
        </p:nvSpPr>
        <p:spPr>
          <a:xfrm>
            <a:off x="8842248" y="2660903"/>
            <a:ext cx="420624" cy="420624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=</a:t>
            </a:r>
          </a:p>
        </p:txBody>
      </p:sp>
      <p:sp>
        <p:nvSpPr>
          <p:cNvPr id="34" name="card"/>
          <p:cNvSpPr/>
          <p:nvPr/>
        </p:nvSpPr>
        <p:spPr>
          <a:xfrm>
            <a:off x="8732520" y="3438144"/>
            <a:ext cx="2788920" cy="694944"/>
          </a:xfrm>
          <a:prstGeom prst="roundRect">
            <a:avLst/>
          </a:prstGeom>
          <a:solidFill>
            <a:srgbClr val="FFEBEB"/>
          </a:solidFill>
          <a:ln w="15875">
            <a:solidFill>
              <a:srgbClr val="C42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658368"/>
          <a:lstStyle/>
          <a:p>
            <a:pPr algn="ctr">
              <a:defRPr sz="1350" b="1">
                <a:solidFill>
                  <a:srgbClr val="102A43"/>
                </a:solidFill>
                <a:latin typeface="Segoe UI"/>
              </a:defRPr>
            </a:pPr>
            <a:r>
              <a:t>Scale In</a:t>
            </a:r>
          </a:p>
          <a:p>
            <a:pPr>
              <a:defRPr sz="950">
                <a:solidFill>
                  <a:srgbClr val="4E4E4E"/>
                </a:solidFill>
                <a:latin typeface="Segoe UI"/>
              </a:defRPr>
            </a:pPr>
            <a:r>
              <a:t>Remove after cooldown</a:t>
            </a:r>
          </a:p>
        </p:txBody>
      </p:sp>
      <p:sp>
        <p:nvSpPr>
          <p:cNvPr id="35" name="icon"/>
          <p:cNvSpPr/>
          <p:nvPr/>
        </p:nvSpPr>
        <p:spPr>
          <a:xfrm>
            <a:off x="8842248" y="3575303"/>
            <a:ext cx="420624" cy="420624"/>
          </a:xfrm>
          <a:prstGeom prst="ellipse">
            <a:avLst/>
          </a:prstGeom>
          <a:solidFill>
            <a:srgbClr val="C42B1C"/>
          </a:solidFill>
          <a:ln>
            <a:solidFill>
              <a:srgbClr val="C42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−</a:t>
            </a:r>
          </a:p>
        </p:txBody>
      </p:sp>
      <p:sp>
        <p:nvSpPr>
          <p:cNvPr id="36" name="summary"/>
          <p:cNvSpPr/>
          <p:nvPr/>
        </p:nvSpPr>
        <p:spPr>
          <a:xfrm>
            <a:off x="1051560" y="5349240"/>
            <a:ext cx="10104120" cy="658368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Scaling stays safe with capacity bounds, thresholds, cooldown windows and approval controls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502920" y="65196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E4E4E"/>
                </a:solidFill>
                <a:latin typeface="Segoe UI"/>
              </a:defRPr>
            </a:pPr>
            <a:r>
              <a:t>Cloud Services  |  INTERNAL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9464040" y="6519672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60" b="0">
                <a:solidFill>
                  <a:srgbClr val="4E4E4E"/>
                </a:solidFill>
                <a:latin typeface="Segoe UI"/>
              </a:defRPr>
            </a:pPr>
            <a:r>
              <a:t>Azure Immutable Product • Enterprise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</dc:creator>
  <cp:lastModifiedBy>OpenAI</cp:lastModifiedBy>
  <cp:revision>1</cp:revision>
  <dcterms:created xsi:type="dcterms:W3CDTF">2026-07-21T13:23:43Z</dcterms:created>
  <dcterms:modified xsi:type="dcterms:W3CDTF">2026-07-21T13:23:43Z</dcterms:modified>
</cp:coreProperties>
</file>