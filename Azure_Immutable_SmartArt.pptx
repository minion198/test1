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9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2AB96-F7DE-8C46-BF5D-80BAEE81541B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AFE72-3A4D-624C-BD1C-A7C836EE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6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7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VMSS Creation Using CDKTF</a:t>
            </a:r>
          </a:p>
          <a:p>
            <a:pPr>
              <a:defRPr sz="1200">
                <a:solidFill>
                  <a:srgbClr val="585858"/>
                </a:solidFill>
              </a:defRPr>
            </a:pPr>
            <a:r>
              <a:t>Standardized module converts approved inputs into governed Azure VMSS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247120" cy="914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</a:defRPr>
            </a:pPr>
            <a:r>
              <a:t>Cloud Services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9224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</a:defRPr>
            </a:pPr>
            <a:r>
              <a:t>Azure Immutable Product • Enterprise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920240"/>
            <a:ext cx="987552" cy="987552"/>
          </a:xfrm>
          <a:prstGeom prst="ellipse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Developer</a:t>
            </a:r>
            <a:br/>
            <a:r>
              <a:t>Inputs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414016"/>
            <a:ext cx="1600199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749039" y="1920240"/>
            <a:ext cx="987552" cy="987552"/>
          </a:xfrm>
          <a:prstGeom prst="ellipse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99" y="29718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CDKTF</a:t>
            </a:r>
            <a:br/>
            <a:r>
              <a:t>Module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599" y="2414016"/>
            <a:ext cx="1600201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92240" y="1920240"/>
            <a:ext cx="987552" cy="987552"/>
          </a:xfrm>
          <a:prstGeom prst="ellipse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9718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Azure</a:t>
            </a:r>
            <a:br/>
            <a:r>
              <a:t>Resources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2414016"/>
            <a:ext cx="1600200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235440" y="1920240"/>
            <a:ext cx="987552" cy="987552"/>
          </a:xfrm>
          <a:prstGeom prst="ellipse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9718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263F"/>
                </a:solidFill>
              </a:defRPr>
            </a:pPr>
            <a:r>
              <a:t>VMSS</a:t>
            </a:r>
            <a:br/>
            <a:r>
              <a:t>Online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3246120" cy="1325880"/>
          </a:xfrm>
          <a:prstGeom prst="roundRect">
            <a:avLst/>
          </a:prstGeom>
          <a:solidFill>
            <a:srgbClr val="F2F7FC"/>
          </a:solidFill>
          <a:ln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6968" y="4462272"/>
            <a:ext cx="502920" cy="502920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89120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t>Autoscale</a:t>
            </a:r>
          </a:p>
          <a:p>
            <a:pPr>
              <a:defRPr sz="1100">
                <a:solidFill>
                  <a:srgbClr val="585858"/>
                </a:solidFill>
              </a:defRPr>
            </a:pPr>
            <a:r>
              <a:t>CPU / queue / custom metrics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160520"/>
            <a:ext cx="3246120" cy="1325880"/>
          </a:xfrm>
          <a:prstGeom prst="roundRect">
            <a:avLst/>
          </a:prstGeom>
          <a:solidFill>
            <a:srgbClr val="F2F7FC"/>
          </a:solidFill>
          <a:ln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81728" y="4462272"/>
            <a:ext cx="502920" cy="502920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389120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t>Health</a:t>
            </a:r>
          </a:p>
          <a:p>
            <a:pPr>
              <a:defRPr sz="1100">
                <a:solidFill>
                  <a:srgbClr val="585858"/>
                </a:solidFill>
              </a:defRPr>
            </a:pPr>
            <a:r>
              <a:t>Extension + load balancer probe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160520"/>
            <a:ext cx="3246120" cy="1325880"/>
          </a:xfrm>
          <a:prstGeom prst="roundRect">
            <a:avLst/>
          </a:prstGeom>
          <a:solidFill>
            <a:srgbClr val="F2F7FC"/>
          </a:solidFill>
          <a:ln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76488" y="4462272"/>
            <a:ext cx="502920" cy="502920"/>
          </a:xfrm>
          <a:prstGeom prst="ellipse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389120"/>
            <a:ext cx="2240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63F"/>
                </a:solidFill>
              </a:defRPr>
            </a:pPr>
            <a:r>
              <a:t>Repair</a:t>
            </a:r>
          </a:p>
          <a:p>
            <a:pPr>
              <a:defRPr sz="1100">
                <a:solidFill>
                  <a:srgbClr val="585858"/>
                </a:solidFill>
              </a:defRPr>
            </a:pPr>
            <a:r>
              <a:t>Detect → reimage → recover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Custom Image Creation</a:t>
            </a:r>
          </a:p>
          <a:p>
            <a:pPr>
              <a:defRPr sz="1200">
                <a:solidFill>
                  <a:srgbClr val="585858"/>
                </a:solidFill>
              </a:defRPr>
            </a:pPr>
            <a:r>
              <a:t>Vertical chevron flow: trusted CGIP base image to approved Compute Gallery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247120" cy="914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</a:defRPr>
            </a:pPr>
            <a:r>
              <a:t>Cloud Services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9224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</a:defRPr>
            </a:pPr>
            <a:r>
              <a:t>Azure Immutable Product • Enterprise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8D4"/>
                </a:solidFill>
              </a:defRPr>
            </a:pPr>
            <a:r>
              <a:t>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344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8D4"/>
                </a:solidFill>
              </a:defRPr>
            </a:pPr>
            <a:r>
              <a:t>VALIDATION &amp;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1874519" cy="4480560"/>
          </a:xfrm>
          <a:prstGeom prst="roundRect">
            <a:avLst/>
          </a:prstGeom>
          <a:solidFill>
            <a:srgbClr val="F2F7FC"/>
          </a:solidFill>
          <a:ln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12263F"/>
                </a:solidFill>
              </a:defRPr>
            </a:pPr>
            <a:r>
              <a:t>ADO Pipeline</a:t>
            </a:r>
            <a:br/>
            <a:br/>
            <a:r>
              <a:t>Parameters</a:t>
            </a:r>
            <a:br/>
            <a:r>
              <a:t>Approvals</a:t>
            </a:r>
            <a:br/>
            <a:r>
              <a:t>Artifacts</a:t>
            </a:r>
            <a:br/>
            <a:r>
              <a:t>Release Notes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1929384"/>
            <a:ext cx="0" cy="109728"/>
          </a:xfrm>
          <a:prstGeom prst="line">
            <a:avLst/>
          </a:prstGeom>
          <a:ln w="1905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2743200" y="1234440"/>
            <a:ext cx="5257800" cy="694944"/>
          </a:xfrm>
          <a:prstGeom prst="chevron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07792" y="137160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005C9C"/>
                </a:solidFill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316736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CGIP Base Image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Enterprise-approved Windows/Linux baseline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734056"/>
            <a:ext cx="0" cy="109728"/>
          </a:xfrm>
          <a:prstGeom prst="line">
            <a:avLst/>
          </a:prstGeom>
          <a:ln w="1905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2743200" y="2039112"/>
            <a:ext cx="5257800" cy="694944"/>
          </a:xfrm>
          <a:prstGeom prst="chevron">
            <a:avLst/>
          </a:prstGeom>
          <a:solidFill>
            <a:srgbClr val="2479C5"/>
          </a:solidFill>
          <a:ln>
            <a:solidFill>
              <a:srgbClr val="247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7792" y="217627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2479C5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21408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Build Request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ADO passes version, template and artifacts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3538728"/>
            <a:ext cx="0" cy="109728"/>
          </a:xfrm>
          <a:prstGeom prst="line">
            <a:avLst/>
          </a:prstGeom>
          <a:ln w="1905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2743200" y="2843784"/>
            <a:ext cx="5257800" cy="694944"/>
          </a:xfrm>
          <a:prstGeom prst="chevron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07792" y="2980944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0078D4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926080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Azure Image Builder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Runs in staging RG with managed identity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60" y="4343400"/>
            <a:ext cx="0" cy="109728"/>
          </a:xfrm>
          <a:prstGeom prst="line">
            <a:avLst/>
          </a:prstGeom>
          <a:ln w="1905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2743200" y="3648456"/>
            <a:ext cx="5257800" cy="694944"/>
          </a:xfrm>
          <a:prstGeom prst="chevron">
            <a:avLst/>
          </a:prstGeom>
          <a:solidFill>
            <a:srgbClr val="4194E0"/>
          </a:solidFill>
          <a:ln>
            <a:solidFill>
              <a:srgbClr val="419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07792" y="3785616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4194E0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730752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Customize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Agents, certs, security config and prerequisites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94960" y="5148072"/>
            <a:ext cx="0" cy="109728"/>
          </a:xfrm>
          <a:prstGeom prst="line">
            <a:avLst/>
          </a:prstGeom>
          <a:ln w="1905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2743200" y="4453128"/>
            <a:ext cx="5257800" cy="694944"/>
          </a:xfrm>
          <a:prstGeom prst="chevron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907792" y="4590288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107C10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535424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Validate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Boot, hardening, extensions, readiness checks</a:t>
            </a:r>
          </a:p>
        </p:txBody>
      </p:sp>
      <p:sp>
        <p:nvSpPr>
          <p:cNvPr id="30" name="Chevron 29"/>
          <p:cNvSpPr/>
          <p:nvPr/>
        </p:nvSpPr>
        <p:spPr>
          <a:xfrm>
            <a:off x="2743200" y="5257800"/>
            <a:ext cx="5257800" cy="694944"/>
          </a:xfrm>
          <a:prstGeom prst="chevron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907792" y="5394960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000" b="1">
                <a:solidFill>
                  <a:srgbClr val="12263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340096"/>
            <a:ext cx="4206240" cy="649224"/>
          </a:xfrm>
          <a:prstGeom prst="rect">
            <a:avLst/>
          </a:prstGeom>
          <a:noFill/>
        </p:spPr>
        <p:txBody>
          <a:bodyPr wrap="none" lIns="18288" t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Publish Version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Immutable image version in Compute Gallery</a:t>
            </a:r>
          </a:p>
        </p:txBody>
      </p:sp>
      <p:sp>
        <p:nvSpPr>
          <p:cNvPr id="33" name="Curved Down Arrow 32"/>
          <p:cNvSpPr/>
          <p:nvPr/>
        </p:nvSpPr>
        <p:spPr>
          <a:xfrm>
            <a:off x="7452360" y="1417320"/>
            <a:ext cx="868680" cy="4251960"/>
          </a:xfrm>
          <a:prstGeom prst="curvedDownArrow">
            <a:avLst/>
          </a:prstGeom>
          <a:solidFill>
            <a:srgbClr val="E0EFFC"/>
          </a:solidFill>
          <a:ln>
            <a:solidFill>
              <a:srgbClr val="E0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32520" y="1828800"/>
            <a:ext cx="292608" cy="292608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869680" y="2121408"/>
            <a:ext cx="22860" cy="42062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71432" y="181051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63F"/>
                </a:solidFill>
              </a:defRPr>
            </a:pPr>
            <a:r>
              <a:t>Security scan</a:t>
            </a:r>
          </a:p>
        </p:txBody>
      </p:sp>
      <p:sp>
        <p:nvSpPr>
          <p:cNvPr id="37" name="Oval 36"/>
          <p:cNvSpPr/>
          <p:nvPr/>
        </p:nvSpPr>
        <p:spPr>
          <a:xfrm>
            <a:off x="8732520" y="2542032"/>
            <a:ext cx="292608" cy="292608"/>
          </a:xfrm>
          <a:prstGeom prst="ellipse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69680" y="2834640"/>
            <a:ext cx="22860" cy="42062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71432" y="252374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63F"/>
                </a:solidFill>
              </a:defRPr>
            </a:pPr>
            <a:r>
              <a:t>Boot validation</a:t>
            </a:r>
          </a:p>
        </p:txBody>
      </p:sp>
      <p:sp>
        <p:nvSpPr>
          <p:cNvPr id="40" name="Oval 39"/>
          <p:cNvSpPr/>
          <p:nvPr/>
        </p:nvSpPr>
        <p:spPr>
          <a:xfrm>
            <a:off x="8732520" y="3255264"/>
            <a:ext cx="292608" cy="292608"/>
          </a:xfrm>
          <a:prstGeom prst="ellipse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869680" y="3547872"/>
            <a:ext cx="22860" cy="42062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71432" y="323697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63F"/>
                </a:solidFill>
              </a:defRPr>
            </a:pPr>
            <a:r>
              <a:t>Approver gate</a:t>
            </a:r>
          </a:p>
        </p:txBody>
      </p:sp>
      <p:sp>
        <p:nvSpPr>
          <p:cNvPr id="43" name="Oval 42"/>
          <p:cNvSpPr/>
          <p:nvPr/>
        </p:nvSpPr>
        <p:spPr>
          <a:xfrm>
            <a:off x="8732520" y="3968496"/>
            <a:ext cx="292608" cy="292608"/>
          </a:xfrm>
          <a:prstGeom prst="ellipse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869680" y="4261104"/>
            <a:ext cx="22860" cy="42062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71432" y="39502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63F"/>
                </a:solidFill>
              </a:defRPr>
            </a:pPr>
            <a:r>
              <a:t>Metadata captured</a:t>
            </a:r>
          </a:p>
        </p:txBody>
      </p:sp>
      <p:sp>
        <p:nvSpPr>
          <p:cNvPr id="46" name="Oval 45"/>
          <p:cNvSpPr/>
          <p:nvPr/>
        </p:nvSpPr>
        <p:spPr>
          <a:xfrm>
            <a:off x="8732520" y="4681728"/>
            <a:ext cx="292608" cy="292608"/>
          </a:xfrm>
          <a:prstGeom prst="ellipse">
            <a:avLst/>
          </a:prstGeom>
          <a:solidFill>
            <a:srgbClr val="C42B1C"/>
          </a:solidFill>
          <a:ln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71432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263F"/>
                </a:solidFill>
              </a:defRPr>
            </a:pPr>
            <a:r>
              <a:t>Rollback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34640" y="5806440"/>
            <a:ext cx="7223760" cy="420624"/>
          </a:xfrm>
          <a:prstGeom prst="roundRect">
            <a:avLst/>
          </a:prstGeom>
          <a:solidFill>
            <a:srgbClr val="E6F5ED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200" b="1">
                <a:solidFill>
                  <a:srgbClr val="16552D"/>
                </a:solidFill>
              </a:defRPr>
            </a:pPr>
            <a:r>
              <a:t>Output: approved immutable Compute Gallery image version consumed by CDKTF / VMSS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</a:defRPr>
            </a:pPr>
            <a:r>
              <a:t>VMSS Rolling Image Upgrade</a:t>
            </a:r>
          </a:p>
          <a:p>
            <a:pPr>
              <a:defRPr sz="1200">
                <a:solidFill>
                  <a:srgbClr val="585858"/>
                </a:solidFill>
              </a:defRPr>
            </a:pPr>
            <a:r>
              <a:t>Batch-based rollout with health gate, pause, and rollback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11247120" cy="9144"/>
          </a:xfrm>
          <a:prstGeom prst="rect">
            <a:avLst/>
          </a:prstGeom>
          <a:solidFill>
            <a:srgbClr val="BEC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4922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85858"/>
                </a:solidFill>
              </a:defRPr>
            </a:pPr>
            <a:r>
              <a:t>Cloud Services  |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9224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5858"/>
                </a:solidFill>
              </a:defRPr>
            </a:pPr>
            <a:r>
              <a:t>Azure Immutable Product • Enterprise Architecture</a:t>
            </a:r>
          </a:p>
        </p:txBody>
      </p:sp>
      <p:sp>
        <p:nvSpPr>
          <p:cNvPr id="7" name="Chevron 6"/>
          <p:cNvSpPr/>
          <p:nvPr/>
        </p:nvSpPr>
        <p:spPr>
          <a:xfrm>
            <a:off x="594360" y="1508760"/>
            <a:ext cx="2057400" cy="868680"/>
          </a:xfrm>
          <a:prstGeom prst="chevron">
            <a:avLst/>
          </a:prstGeom>
          <a:solidFill>
            <a:srgbClr val="005C9C"/>
          </a:solidFill>
          <a:ln>
            <a:solidFill>
              <a:srgbClr val="005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 Update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0"/>
            <a:ext cx="228600" cy="0"/>
          </a:xfrm>
          <a:prstGeom prst="line">
            <a:avLst/>
          </a:prstGeom>
          <a:ln w="1778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2834640" y="1508760"/>
            <a:ext cx="2057400" cy="868680"/>
          </a:xfrm>
          <a:prstGeom prst="chevron">
            <a:avLst/>
          </a:prstGeom>
          <a:solidFill>
            <a:srgbClr val="2479C5"/>
          </a:solidFill>
          <a:ln>
            <a:solidFill>
              <a:srgbClr val="247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Batch Select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92040" y="0"/>
            <a:ext cx="228600" cy="0"/>
          </a:xfrm>
          <a:prstGeom prst="line">
            <a:avLst/>
          </a:prstGeom>
          <a:ln w="1778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5074920" y="1508760"/>
            <a:ext cx="2057400" cy="868680"/>
          </a:xfrm>
          <a:prstGeom prst="chevron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Surge / Replace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0"/>
            <a:ext cx="228600" cy="0"/>
          </a:xfrm>
          <a:prstGeom prst="line">
            <a:avLst/>
          </a:prstGeom>
          <a:ln w="1778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7315200" y="1508760"/>
            <a:ext cx="2057400" cy="868680"/>
          </a:xfrm>
          <a:prstGeom prst="chevron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Health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0"/>
            <a:ext cx="228600" cy="0"/>
          </a:xfrm>
          <a:prstGeom prst="line">
            <a:avLst/>
          </a:prstGeom>
          <a:ln w="17780">
            <a:solidFill>
              <a:srgbClr val="BECF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9555480" y="1508760"/>
            <a:ext cx="2057400" cy="868680"/>
          </a:xfrm>
          <a:prstGeom prst="chevron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Continue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8D4"/>
                </a:solidFill>
              </a:defRPr>
            </a:pPr>
            <a:r>
              <a:t>ROLLING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216152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55064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093976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32888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971800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10712" y="3291840"/>
            <a:ext cx="338328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9624" y="3291840"/>
            <a:ext cx="338328" cy="384048"/>
          </a:xfrm>
          <a:prstGeom prst="round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288536" y="3291840"/>
            <a:ext cx="338328" cy="384048"/>
          </a:xfrm>
          <a:prstGeom prst="round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27448" y="3291840"/>
            <a:ext cx="338328" cy="384048"/>
          </a:xfrm>
          <a:prstGeom prst="roundRect">
            <a:avLst/>
          </a:prstGeom>
          <a:solidFill>
            <a:srgbClr val="E1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7240" y="3977639"/>
            <a:ext cx="1508760" cy="438912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Batch 25%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3977639"/>
            <a:ext cx="1508760" cy="438912"/>
          </a:xfrm>
          <a:prstGeom prst="roundRect">
            <a:avLst/>
          </a:prstGeom>
          <a:solidFill>
            <a:srgbClr val="107C10"/>
          </a:solidFill>
          <a:ln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Max Surge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3977639"/>
            <a:ext cx="1508760" cy="438912"/>
          </a:xfrm>
          <a:prstGeom prst="round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3977639"/>
            <a:ext cx="1508760" cy="438912"/>
          </a:xfrm>
          <a:prstGeom prst="roundRect">
            <a:avLst/>
          </a:prstGeom>
          <a:solidFill>
            <a:srgbClr val="C42B1C"/>
          </a:solidFill>
          <a:ln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Unhealthy Limit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9260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8D4"/>
                </a:solidFill>
              </a:defRPr>
            </a:pPr>
            <a:r>
              <a:t>WHEN HEALTH FAILS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291840"/>
            <a:ext cx="1554480" cy="594360"/>
          </a:xfrm>
          <a:prstGeom prst="roundRect">
            <a:avLst/>
          </a:prstGeom>
          <a:solidFill>
            <a:srgbClr val="C42B1C"/>
          </a:solidFill>
          <a:ln>
            <a:solidFill>
              <a:srgbClr val="C42B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Health Failed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291840"/>
            <a:ext cx="1325880" cy="594360"/>
          </a:xfrm>
          <a:prstGeom prst="roundRect">
            <a:avLst/>
          </a:prstGeom>
          <a:solidFill>
            <a:srgbClr val="F47C20"/>
          </a:solidFill>
          <a:ln>
            <a:solidFill>
              <a:srgbClr val="F4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52760" y="3291840"/>
            <a:ext cx="1097280" cy="594360"/>
          </a:xfrm>
          <a:prstGeom prst="roundRect">
            <a:avLst/>
          </a:prstGeom>
          <a:solidFill>
            <a:srgbClr val="12263F"/>
          </a:solidFill>
          <a:ln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Rollback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61120" y="0"/>
            <a:ext cx="182880" cy="0"/>
          </a:xfrm>
          <a:prstGeom prst="line">
            <a:avLst/>
          </a:prstGeom>
          <a:ln w="25400">
            <a:solidFill>
              <a:srgbClr val="C42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69880" y="0"/>
            <a:ext cx="182880" cy="0"/>
          </a:xfrm>
          <a:prstGeom prst="line">
            <a:avLst/>
          </a:prstGeom>
          <a:ln w="25400">
            <a:solidFill>
              <a:srgbClr val="C42B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98079" y="4617720"/>
            <a:ext cx="4160520" cy="841248"/>
          </a:xfrm>
          <a:prstGeom prst="roundRect">
            <a:avLst/>
          </a:prstGeom>
          <a:solidFill>
            <a:srgbClr val="F2F7FC"/>
          </a:solidFill>
          <a:ln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36576" rIns="54864" bIns="36576" rtlCol="0" anchor="ctr"/>
          <a:lstStyle/>
          <a:p>
            <a:pPr algn="ctr">
              <a:defRPr sz="1200" b="1">
                <a:solidFill>
                  <a:srgbClr val="12263F"/>
                </a:solidFill>
              </a:defRPr>
            </a:pPr>
            <a:r>
              <a:t>Upgrade continues only after application health or load balancer probe reports healthy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VMSS Handles Rolling Image Upgrades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75488" y="71323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Batch-by-batch rollout with a health gate before every continue decision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</a:rPr>
              <a:t>Fleet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17320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56232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95144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34056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50792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9704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28616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67528" y="1325880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1344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</a:rPr>
              <a:t>v1 current image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481328"/>
            <a:ext cx="91440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120700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48472" y="1280160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updated to v2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359152"/>
            <a:ext cx="2148840" cy="932688"/>
          </a:xfrm>
          <a:prstGeom prst="chevron">
            <a:avLst/>
          </a:prstGeom>
          <a:solidFill>
            <a:srgbClr val="00205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1832" y="25603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1832" y="26243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50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35608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Select Batch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35608" y="28803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controlled rollout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0" y="2359152"/>
            <a:ext cx="2148840" cy="932688"/>
          </a:xfrm>
          <a:prstGeom prst="chevron">
            <a:avLst/>
          </a:prstGeom>
          <a:solidFill>
            <a:srgbClr val="0078D4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82112" y="25603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182112" y="26243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75888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Replace / Surge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675888" y="28803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controlled rollout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57800" y="2359152"/>
            <a:ext cx="2148840" cy="932688"/>
          </a:xfrm>
          <a:prstGeom prst="chevron">
            <a:avLst/>
          </a:prstGeom>
          <a:solidFill>
            <a:srgbClr val="107C1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22392" y="25603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2392" y="26243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7C10"/>
                </a:solidFill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16168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Health Gate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916168" y="28803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probe must pass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0" y="2359152"/>
            <a:ext cx="2148840" cy="932688"/>
          </a:xfrm>
          <a:prstGeom prst="chevron">
            <a:avLst/>
          </a:prstGeom>
          <a:solidFill>
            <a:srgbClr val="008272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62672" y="25603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62672" y="26243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272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56448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 Batch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156448" y="28803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controlled rollout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738360" y="2359152"/>
            <a:ext cx="2148840" cy="932688"/>
          </a:xfrm>
          <a:prstGeom prst="chevron">
            <a:avLst/>
          </a:prstGeom>
          <a:solidFill>
            <a:srgbClr val="D83B01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902952" y="25603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902952" y="2624328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83B01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396728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Complete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396728" y="28803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all instances v2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2960" y="3803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050"/>
                </a:solidFill>
              </a:rPr>
              <a:t>Upgrade progress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377440" y="3749040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880360" y="3749040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383280" y="3749040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88620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38912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9204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9496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89788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0080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03720" y="3749040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89520" y="37581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7C10"/>
                </a:solidFill>
              </a:rPr>
              <a:t>Batch 1 healthy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37744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88036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38328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88620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38912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892040" y="4187952"/>
            <a:ext cx="420624" cy="246888"/>
          </a:xfrm>
          <a:prstGeom prst="rect">
            <a:avLst/>
          </a:prstGeom>
          <a:solidFill>
            <a:srgbClr val="107C1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394960" y="4187952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897880" y="4187952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00800" y="4187952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903720" y="4187952"/>
            <a:ext cx="420624" cy="246888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895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7C10"/>
                </a:solidFill>
              </a:rPr>
              <a:t>Batch 2 healthy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94960" y="3291840"/>
            <a:ext cx="0" cy="1417320"/>
          </a:xfrm>
          <a:prstGeom prst="line">
            <a:avLst/>
          </a:prstGeom>
          <a:noFill/>
          <a:ln w="25400">
            <a:solidFill>
              <a:srgbClr val="A4262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407408" y="473659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A4262C"/>
          </a:solidFill>
          <a:ln w="12700">
            <a:solidFill>
              <a:srgbClr val="A42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480560" y="480974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If health fails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327648" y="5056632"/>
            <a:ext cx="576072" cy="0"/>
          </a:xfrm>
          <a:prstGeom prst="line">
            <a:avLst/>
          </a:prstGeom>
          <a:noFill/>
          <a:ln w="25400">
            <a:solidFill>
              <a:srgbClr val="A426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931152" y="4736592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04304" y="4809744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4262C"/>
                </a:solidFill>
              </a:rPr>
              <a:t>Pause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77072" y="5056632"/>
            <a:ext cx="566928" cy="0"/>
          </a:xfrm>
          <a:prstGeom prst="line">
            <a:avLst/>
          </a:prstGeom>
          <a:noFill/>
          <a:ln w="25400">
            <a:solidFill>
              <a:srgbClr val="A426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9189720" y="4736592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262872" y="4809744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4262C"/>
                </a:solidFill>
              </a:rPr>
              <a:t>Rollback / Repair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22960" y="562356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69264" y="573328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</a:rPr>
              <a:t>BATCH SIZE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69264" y="600760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50"/>
                </a:solidFill>
              </a:rPr>
              <a:t>maxBatchInstancePercent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429000" y="562356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575304" y="573328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</a:rPr>
              <a:t>TOLERANCE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575304" y="600760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D83B01"/>
                </a:solidFill>
              </a:rPr>
              <a:t>maxUnhealthy%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6035040" y="562356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181344" y="573328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</a:rPr>
              <a:t>PAUSE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181344" y="600760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50"/>
                </a:solidFill>
              </a:rPr>
              <a:t>pauseTimeBetweenBatches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8641080" y="5623560"/>
            <a:ext cx="2240280" cy="621792"/>
          </a:xfrm>
          <a:prstGeom prst="roundRect">
            <a:avLst>
              <a:gd name="adj" fmla="val 11765"/>
            </a:avLst>
          </a:prstGeom>
          <a:solidFill>
            <a:srgbClr val="EAF7EA"/>
          </a:solidFill>
          <a:ln w="12700">
            <a:solidFill>
              <a:srgbClr val="EAF7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787384" y="5733288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A5568"/>
                </a:solidFill>
              </a:rPr>
              <a:t>AVAILABILITY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787384" y="6007608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7C10"/>
                </a:solidFill>
              </a:rPr>
              <a:t>maxSurge + zone balance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</a:rPr>
              <a:t>Cloud Services  |  INTERNAL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823960" y="65105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5568"/>
                </a:solidFill>
              </a:rPr>
              <a:t>Azure Immutable Product • Enterprise Architecture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VMSS Creation Using CDKTF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0624" y="64008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Step-down deployment process with governance, platform defaults, and Day-2 operations built 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509760" y="274320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Services  |  INTERNAL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Immutable Product • Enterprise Architecture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932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VMSS creation flow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6126480" cy="658368"/>
          </a:xfrm>
          <a:prstGeom prst="roundRect">
            <a:avLst/>
          </a:prstGeom>
          <a:solidFill>
            <a:srgbClr val="D9ECFF"/>
          </a:solidFill>
          <a:ln w="15240">
            <a:solidFill>
              <a:srgbClr val="0078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☰   Capture Inputs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Application, environment, VM SKU, image version, instance count, tags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938528"/>
            <a:ext cx="6126480" cy="658368"/>
          </a:xfrm>
          <a:prstGeom prst="roundRect">
            <a:avLst/>
          </a:prstGeom>
          <a:solidFill>
            <a:srgbClr val="E8F1FF"/>
          </a:solidFill>
          <a:ln w="15240">
            <a:solidFill>
              <a:srgbClr val="005A9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⚙   Run CDKTF Module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VMSS module injects network, identity, diagnostics and guardrails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53896" y="2651760"/>
            <a:ext cx="6126480" cy="658368"/>
          </a:xfrm>
          <a:prstGeom prst="roundRect">
            <a:avLst/>
          </a:prstGeom>
          <a:solidFill>
            <a:srgbClr val="E7F6E7"/>
          </a:solidFill>
          <a:ln w="15240">
            <a:solidFill>
              <a:srgbClr val="107C1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✓   Terraform Plan + Approval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plan, review changes, and use Required Review before apply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37944" y="3364992"/>
            <a:ext cx="6126480" cy="658368"/>
          </a:xfrm>
          <a:prstGeom prst="roundRect">
            <a:avLst/>
          </a:prstGeom>
          <a:solidFill>
            <a:srgbClr val="E9F5FF"/>
          </a:solidFill>
          <a:ln w="15240">
            <a:solidFill>
              <a:srgbClr val="0078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☁   Provision Azure VMSS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VMSS, NICs, load balancer, autoscale profile, probe and extension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21992" y="4078224"/>
            <a:ext cx="6126480" cy="658368"/>
          </a:xfrm>
          <a:prstGeom prst="roundRect">
            <a:avLst/>
          </a:prstGeom>
          <a:solidFill>
            <a:srgbClr val="FFF0DA"/>
          </a:solidFill>
          <a:ln w="15240">
            <a:solidFill>
              <a:srgbClr val="C75B12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 ↯   Post-Deployment Automation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/ Automation Account runs domain join and configuration tasks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4791456"/>
            <a:ext cx="6126480" cy="658368"/>
          </a:xfrm>
          <a:prstGeom prst="roundRect">
            <a:avLst/>
          </a:prstGeom>
          <a:solidFill>
            <a:srgbClr val="EFE7FA"/>
          </a:solidFill>
          <a:ln w="15240">
            <a:solidFill>
              <a:srgbClr val="5C2D9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 ↻   Operate + Self-Heal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Scale, monitor health, auto-repair and reimage unhealthy instances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87968" y="1097280"/>
            <a:ext cx="2816352" cy="45720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7968" y="1627632"/>
            <a:ext cx="2816352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651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53728" y="187452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9ECFF"/>
          </a:solidFill>
          <a:ln w="11430">
            <a:solidFill>
              <a:srgbClr val="0078D4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  Virtual Machine Scale Set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253728" y="251460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7F6E7"/>
          </a:solidFill>
          <a:ln w="11430">
            <a:solidFill>
              <a:srgbClr val="107C1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Managed Identity + RBAC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53728" y="315468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FF0DA"/>
          </a:solidFill>
          <a:ln w="11430">
            <a:solidFill>
              <a:srgbClr val="C75B12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  Load Balancer + Probe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253728" y="37947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FE7FA"/>
          </a:solidFill>
          <a:ln w="11430">
            <a:solidFill>
              <a:srgbClr val="5C2D91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▤  Autoscale Rules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253728" y="443484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FEEEEE"/>
          </a:solidFill>
          <a:ln w="11430">
            <a:solidFill>
              <a:srgbClr val="C43E1C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♡  Health Extension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253728" y="507492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EAF6FF"/>
          </a:solidFill>
          <a:ln w="11430">
            <a:solidFill>
              <a:srgbClr val="0078D4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↻  Auto Repair / Reimage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92440" y="3035808"/>
            <a:ext cx="621792" cy="347472"/>
          </a:xfrm>
          <a:prstGeom prst="rightArrow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89720" y="57150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rolling upgrades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506</Words>
  <Application>Microsoft Macintosh PowerPoint</Application>
  <PresentationFormat>Widescreen</PresentationFormat>
  <Paragraphs>134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Marru, Harshith Kumar (IST-ACCENTURE)</cp:lastModifiedBy>
  <cp:revision>3</cp:revision>
  <dcterms:created xsi:type="dcterms:W3CDTF">2013-01-27T09:14:16Z</dcterms:created>
  <dcterms:modified xsi:type="dcterms:W3CDTF">2026-07-21T13:10:17Z</dcterms:modified>
  <cp:category/>
</cp:coreProperties>
</file>