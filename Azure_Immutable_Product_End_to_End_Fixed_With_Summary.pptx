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60120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Immutable Product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58952" y="173736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8FF"/>
                </a:solidFill>
              </a:rPr>
              <a:t>End-to-End Architecture, Image Supply Chain and VMSS Operations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8096" y="2304288"/>
            <a:ext cx="6035040" cy="0"/>
          </a:xfrm>
          <a:prstGeom prst="line">
            <a:avLst/>
          </a:prstGeom>
          <a:noFill/>
          <a:ln w="38100">
            <a:solidFill>
              <a:srgbClr val="2BC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788920"/>
            <a:ext cx="1481328" cy="292608"/>
          </a:xfrm>
          <a:prstGeom prst="roundRect">
            <a:avLst>
              <a:gd name="adj" fmla="val 25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2862072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Azure Image Builder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04872" y="2788920"/>
            <a:ext cx="1481328" cy="292608"/>
          </a:xfrm>
          <a:prstGeom prst="roundRect">
            <a:avLst>
              <a:gd name="adj" fmla="val 250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9736" y="2862072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Compute Gallery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32504" y="2788920"/>
            <a:ext cx="1481328" cy="292608"/>
          </a:xfrm>
          <a:prstGeom prst="roundRect">
            <a:avLst>
              <a:gd name="adj" fmla="val 25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87368" y="2862072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CDKTF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660136" y="2788920"/>
            <a:ext cx="1481328" cy="292608"/>
          </a:xfrm>
          <a:prstGeom prst="roundRect">
            <a:avLst>
              <a:gd name="adj" fmla="val 250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2862072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VMSS Rolling Upgrades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287768" y="2788920"/>
            <a:ext cx="1481328" cy="292608"/>
          </a:xfrm>
          <a:prstGeom prst="roundRect">
            <a:avLst>
              <a:gd name="adj" fmla="val 25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42632" y="2862072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Health &amp; Repair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" y="37033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4FF"/>
                </a:solidFill>
              </a:rPr>
              <a:t>Audience: Developers, Platform Engineering, Cloud Solution Architects and CIO application teams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096512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7EA"/>
                </a:solidFill>
              </a:rPr>
              <a:t>Outcome: understand how a governed custom image becomes a healthy, upgraded VMSS service across enterprise subscriptions.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69680" y="960120"/>
            <a:ext cx="2240280" cy="411480"/>
          </a:xfrm>
          <a:prstGeom prst="roundRect">
            <a:avLst>
              <a:gd name="adj" fmla="val 17778"/>
            </a:avLst>
          </a:prstGeom>
          <a:solidFill>
            <a:srgbClr val="193B5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51976" y="1042416"/>
            <a:ext cx="2075688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Base CGIP Image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994392" y="1389888"/>
            <a:ext cx="0" cy="301752"/>
          </a:xfrm>
          <a:prstGeom prst="line">
            <a:avLst/>
          </a:prstGeom>
          <a:noFill/>
          <a:ln w="19050">
            <a:solidFill>
              <a:srgbClr val="2BC7F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869680" y="1700784"/>
            <a:ext cx="2240280" cy="411480"/>
          </a:xfrm>
          <a:prstGeom prst="roundRect">
            <a:avLst>
              <a:gd name="adj" fmla="val 17778"/>
            </a:avLst>
          </a:prstGeom>
          <a:solidFill>
            <a:srgbClr val="193B5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51976" y="1783080"/>
            <a:ext cx="2075688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AIB Custom Image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994392" y="2139696"/>
            <a:ext cx="0" cy="301752"/>
          </a:xfrm>
          <a:prstGeom prst="line">
            <a:avLst/>
          </a:prstGeom>
          <a:noFill/>
          <a:ln w="19050">
            <a:solidFill>
              <a:srgbClr val="2BC7F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869680" y="2450592"/>
            <a:ext cx="2240280" cy="411480"/>
          </a:xfrm>
          <a:prstGeom prst="roundRect">
            <a:avLst>
              <a:gd name="adj" fmla="val 17778"/>
            </a:avLst>
          </a:prstGeom>
          <a:solidFill>
            <a:srgbClr val="193B5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51976" y="2532888"/>
            <a:ext cx="2075688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Shared Gallery Version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994392" y="2889504"/>
            <a:ext cx="0" cy="301752"/>
          </a:xfrm>
          <a:prstGeom prst="line">
            <a:avLst/>
          </a:prstGeom>
          <a:noFill/>
          <a:ln w="19050">
            <a:solidFill>
              <a:srgbClr val="2BC7FF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869680" y="3200400"/>
            <a:ext cx="2240280" cy="411480"/>
          </a:xfrm>
          <a:prstGeom prst="roundRect">
            <a:avLst>
              <a:gd name="adj" fmla="val 17778"/>
            </a:avLst>
          </a:prstGeom>
          <a:solidFill>
            <a:srgbClr val="193B5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51976" y="3282696"/>
            <a:ext cx="2075688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CDKTF VMSS Deployment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994392" y="3639312"/>
            <a:ext cx="0" cy="301752"/>
          </a:xfrm>
          <a:prstGeom prst="line">
            <a:avLst/>
          </a:prstGeom>
          <a:noFill/>
          <a:ln w="19050">
            <a:solidFill>
              <a:srgbClr val="2BC7FF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869680" y="3950208"/>
            <a:ext cx="2240280" cy="411480"/>
          </a:xfrm>
          <a:prstGeom prst="roundRect">
            <a:avLst>
              <a:gd name="adj" fmla="val 17778"/>
            </a:avLst>
          </a:prstGeom>
          <a:solidFill>
            <a:srgbClr val="193B5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51976" y="4032504"/>
            <a:ext cx="2075688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Rolling Upgrade + Health Repair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77240" y="62636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C5FF"/>
                </a:solidFill>
              </a:rPr>
              <a:t>July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Summary 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758952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</a:rPr>
              <a:t>From trusted base image to governed VMSS deployment and automated operations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1033272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0" y="655624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Azure Immutable Product • Enterprise Architecture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84048" y="1508760"/>
            <a:ext cx="1261872" cy="758952"/>
          </a:xfrm>
          <a:prstGeom prst="roundRect">
            <a:avLst>
              <a:gd name="adj" fmla="val 10843"/>
            </a:avLst>
          </a:prstGeom>
          <a:solidFill>
            <a:srgbClr val="EAF4FF"/>
          </a:solidFill>
          <a:ln w="15240">
            <a:solidFill>
              <a:srgbClr val="0078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508760"/>
            <a:ext cx="91440" cy="7589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184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1. Platform Pre-Created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Identity, RBAC, VNets, staging RGs, private endpoints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1664208" y="1888236"/>
            <a:ext cx="82296" cy="0"/>
          </a:xfrm>
          <a:prstGeom prst="line">
            <a:avLst/>
          </a:prstGeom>
          <a:noFill/>
          <a:ln w="13970">
            <a:solidFill>
              <a:srgbClr val="60708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792224" y="1508760"/>
            <a:ext cx="1261872" cy="758952"/>
          </a:xfrm>
          <a:prstGeom prst="roundRect">
            <a:avLst>
              <a:gd name="adj" fmla="val 10843"/>
            </a:avLst>
          </a:prstGeom>
          <a:solidFill>
            <a:srgbClr val="F1EEFF"/>
          </a:solidFill>
          <a:ln w="15240">
            <a:solidFill>
              <a:srgbClr val="6B4E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92224" y="1508760"/>
            <a:ext cx="91440" cy="758952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56816" y="16184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2. Base CGIP Image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56816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Approved golden base image consumed by AIB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3072384" y="1888236"/>
            <a:ext cx="82296" cy="0"/>
          </a:xfrm>
          <a:prstGeom prst="line">
            <a:avLst/>
          </a:prstGeom>
          <a:noFill/>
          <a:ln w="13970">
            <a:solidFill>
              <a:srgbClr val="60708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00400" y="1508760"/>
            <a:ext cx="1261872" cy="758952"/>
          </a:xfrm>
          <a:prstGeom prst="roundRect">
            <a:avLst>
              <a:gd name="adj" fmla="val 10843"/>
            </a:avLst>
          </a:prstGeom>
          <a:solidFill>
            <a:srgbClr val="FFF3E5"/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1508760"/>
            <a:ext cx="91440" cy="7589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16184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3. ADO + AIB Build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64992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Pipeline creates OS + hardening + agent image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4480560" y="1888236"/>
            <a:ext cx="82296" cy="0"/>
          </a:xfrm>
          <a:prstGeom prst="line">
            <a:avLst/>
          </a:prstGeom>
          <a:noFill/>
          <a:ln w="13970">
            <a:solidFill>
              <a:srgbClr val="60708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608576" y="1508760"/>
            <a:ext cx="1261872" cy="758952"/>
          </a:xfrm>
          <a:prstGeom prst="roundRect">
            <a:avLst>
              <a:gd name="adj" fmla="val 10843"/>
            </a:avLst>
          </a:prstGeom>
          <a:solidFill>
            <a:srgbClr val="EAF7EA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8576" y="1508760"/>
            <a:ext cx="91440" cy="7589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16184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4. Validate &amp; Sign-off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73168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Boot, security, patch and application smoke tests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5888736" y="1888236"/>
            <a:ext cx="82296" cy="0"/>
          </a:xfrm>
          <a:prstGeom prst="line">
            <a:avLst/>
          </a:prstGeom>
          <a:noFill/>
          <a:ln w="13970">
            <a:solidFill>
              <a:srgbClr val="607080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016752" y="1508760"/>
            <a:ext cx="1261872" cy="758952"/>
          </a:xfrm>
          <a:prstGeom prst="roundRect">
            <a:avLst>
              <a:gd name="adj" fmla="val 10843"/>
            </a:avLst>
          </a:prstGeom>
          <a:solidFill>
            <a:srgbClr val="EAF4FF"/>
          </a:solidFill>
          <a:ln w="15240">
            <a:solidFill>
              <a:srgbClr val="0078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16752" y="1508760"/>
            <a:ext cx="91440" cy="7589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81344" y="16184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5. Version in Gallery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81344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Major.Minor.Patch with EOL and exclude-latest controls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7296912" y="1888236"/>
            <a:ext cx="82296" cy="0"/>
          </a:xfrm>
          <a:prstGeom prst="line">
            <a:avLst/>
          </a:prstGeom>
          <a:noFill/>
          <a:ln w="13970">
            <a:solidFill>
              <a:srgbClr val="607080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424928" y="1508760"/>
            <a:ext cx="1261872" cy="758952"/>
          </a:xfrm>
          <a:prstGeom prst="roundRect">
            <a:avLst>
              <a:gd name="adj" fmla="val 10843"/>
            </a:avLst>
          </a:prstGeom>
          <a:solidFill>
            <a:srgbClr val="FFF3E5"/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24928" y="1508760"/>
            <a:ext cx="91440" cy="7589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0" y="16184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6. Approval Gate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589520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CSA / platform approval before enterprise release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8705088" y="1888236"/>
            <a:ext cx="82296" cy="0"/>
          </a:xfrm>
          <a:prstGeom prst="line">
            <a:avLst/>
          </a:prstGeom>
          <a:noFill/>
          <a:ln w="13970">
            <a:solidFill>
              <a:srgbClr val="607080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833104" y="1508760"/>
            <a:ext cx="1261872" cy="758952"/>
          </a:xfrm>
          <a:prstGeom prst="roundRect">
            <a:avLst>
              <a:gd name="adj" fmla="val 10843"/>
            </a:avLst>
          </a:prstGeom>
          <a:solidFill>
            <a:srgbClr val="F1EEFF"/>
          </a:solidFill>
          <a:ln w="15240">
            <a:solidFill>
              <a:srgbClr val="6B4E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33104" y="1508760"/>
            <a:ext cx="91440" cy="758952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97696" y="16184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7. Copy / Replicate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997696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Publish to prod gallery and CIO subscriptions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10113264" y="1888236"/>
            <a:ext cx="82296" cy="0"/>
          </a:xfrm>
          <a:prstGeom prst="line">
            <a:avLst/>
          </a:prstGeom>
          <a:noFill/>
          <a:ln w="13970">
            <a:solidFill>
              <a:srgbClr val="607080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241280" y="1508760"/>
            <a:ext cx="1261872" cy="758952"/>
          </a:xfrm>
          <a:prstGeom prst="roundRect">
            <a:avLst>
              <a:gd name="adj" fmla="val 10843"/>
            </a:avLst>
          </a:prstGeom>
          <a:solidFill>
            <a:srgbClr val="EAF4FF"/>
          </a:solidFill>
          <a:ln w="15240">
            <a:solidFill>
              <a:srgbClr val="0078D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241280" y="1508760"/>
            <a:ext cx="91440" cy="7589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405872" y="16184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8. CDKTF Deploys VMSS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405872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Pick image version and apply VMSS model</a:t>
            </a:r>
            <a:endParaRPr lang="en-US" sz="870" dirty="0"/>
          </a:p>
        </p:txBody>
      </p:sp>
      <p:sp>
        <p:nvSpPr>
          <p:cNvPr id="46" name="Shape 44"/>
          <p:cNvSpPr/>
          <p:nvPr/>
        </p:nvSpPr>
        <p:spPr>
          <a:xfrm>
            <a:off x="10469880" y="2267712"/>
            <a:ext cx="0" cy="804672"/>
          </a:xfrm>
          <a:prstGeom prst="line">
            <a:avLst/>
          </a:prstGeom>
          <a:noFill/>
          <a:ln w="13970">
            <a:solidFill>
              <a:srgbClr val="60708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14400" y="3063240"/>
            <a:ext cx="2194560" cy="822960"/>
          </a:xfrm>
          <a:prstGeom prst="roundRect">
            <a:avLst>
              <a:gd name="adj" fmla="val 10000"/>
            </a:avLst>
          </a:prstGeom>
          <a:solidFill>
            <a:srgbClr val="EAF7EA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4400" y="3063240"/>
            <a:ext cx="91440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78992" y="317296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9. Post Deploy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78992" y="3474720"/>
            <a:ext cx="19385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Azure Function for platform actions; CIO Automation Account optional</a:t>
            </a:r>
            <a:endParaRPr lang="en-US" sz="870" dirty="0"/>
          </a:p>
        </p:txBody>
      </p:sp>
      <p:sp>
        <p:nvSpPr>
          <p:cNvPr id="51" name="Shape 49"/>
          <p:cNvSpPr/>
          <p:nvPr/>
        </p:nvSpPr>
        <p:spPr>
          <a:xfrm>
            <a:off x="3127248" y="3474720"/>
            <a:ext cx="484632" cy="0"/>
          </a:xfrm>
          <a:prstGeom prst="line">
            <a:avLst/>
          </a:prstGeom>
          <a:noFill/>
          <a:ln w="13970">
            <a:solidFill>
              <a:srgbClr val="607080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3657600" y="3063240"/>
            <a:ext cx="2194560" cy="822960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 w="15240">
            <a:solidFill>
              <a:srgbClr val="0078D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57600" y="3063240"/>
            <a:ext cx="9144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22192" y="317296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10. Scale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3822192" y="3474720"/>
            <a:ext cx="19385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Autoscale rules add/remove instances against the same model</a:t>
            </a:r>
            <a:endParaRPr lang="en-US" sz="870" dirty="0"/>
          </a:p>
        </p:txBody>
      </p:sp>
      <p:sp>
        <p:nvSpPr>
          <p:cNvPr id="56" name="Shape 54"/>
          <p:cNvSpPr/>
          <p:nvPr/>
        </p:nvSpPr>
        <p:spPr>
          <a:xfrm>
            <a:off x="5870448" y="3474720"/>
            <a:ext cx="484632" cy="0"/>
          </a:xfrm>
          <a:prstGeom prst="line">
            <a:avLst/>
          </a:prstGeom>
          <a:noFill/>
          <a:ln w="13970">
            <a:solidFill>
              <a:srgbClr val="607080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6400800" y="3063240"/>
            <a:ext cx="2194560" cy="822960"/>
          </a:xfrm>
          <a:prstGeom prst="roundRect">
            <a:avLst>
              <a:gd name="adj" fmla="val 10000"/>
            </a:avLst>
          </a:prstGeom>
          <a:solidFill>
            <a:srgbClr val="FFF3E5"/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00800" y="3063240"/>
            <a:ext cx="91440" cy="8229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65392" y="317296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11. Rolling Upgrade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565392" y="3474720"/>
            <a:ext cx="19385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Batch-based VMSS model update; health gate between batches</a:t>
            </a:r>
            <a:endParaRPr lang="en-US" sz="870" dirty="0"/>
          </a:p>
        </p:txBody>
      </p:sp>
      <p:sp>
        <p:nvSpPr>
          <p:cNvPr id="61" name="Shape 59"/>
          <p:cNvSpPr/>
          <p:nvPr/>
        </p:nvSpPr>
        <p:spPr>
          <a:xfrm>
            <a:off x="8613648" y="3474720"/>
            <a:ext cx="484632" cy="0"/>
          </a:xfrm>
          <a:prstGeom prst="line">
            <a:avLst/>
          </a:prstGeom>
          <a:noFill/>
          <a:ln w="13970">
            <a:solidFill>
              <a:srgbClr val="607080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9144000" y="3063240"/>
            <a:ext cx="2194560" cy="822960"/>
          </a:xfrm>
          <a:prstGeom prst="roundRect">
            <a:avLst>
              <a:gd name="adj" fmla="val 10000"/>
            </a:avLst>
          </a:prstGeom>
          <a:solidFill>
            <a:srgbClr val="F1EEFF"/>
          </a:solidFill>
          <a:ln w="15240">
            <a:solidFill>
              <a:srgbClr val="6B4E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44000" y="3063240"/>
            <a:ext cx="91440" cy="82296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308592" y="317296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12. Health &amp; Repair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9308592" y="3474720"/>
            <a:ext cx="19385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App Health Extension/probes detect unhealthy instances and repair</a:t>
            </a:r>
            <a:endParaRPr lang="en-US" sz="870" dirty="0"/>
          </a:p>
        </p:txBody>
      </p:sp>
      <p:sp>
        <p:nvSpPr>
          <p:cNvPr id="66" name="Shape 64"/>
          <p:cNvSpPr/>
          <p:nvPr/>
        </p:nvSpPr>
        <p:spPr>
          <a:xfrm>
            <a:off x="960120" y="4617720"/>
            <a:ext cx="5120640" cy="1051560"/>
          </a:xfrm>
          <a:prstGeom prst="roundRect">
            <a:avLst>
              <a:gd name="adj" fmla="val 7826"/>
            </a:avLst>
          </a:prstGeom>
          <a:solidFill>
            <a:srgbClr val="F4F7FB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24712" y="4745736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</a:rPr>
              <a:t>Control points that make the flow immutable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179576" y="5093208"/>
            <a:ext cx="473659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No patch-in-place on existing servers; changes flow through a new image version.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Approvals, version metadata and RBAC define what can be released and who can consume it.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VMSS upgrades replace/update instances in controlled batches with health validation.</a:t>
            </a:r>
            <a:endParaRPr lang="en-US" sz="880" dirty="0"/>
          </a:p>
        </p:txBody>
      </p:sp>
      <p:sp>
        <p:nvSpPr>
          <p:cNvPr id="69" name="Shape 67"/>
          <p:cNvSpPr/>
          <p:nvPr/>
        </p:nvSpPr>
        <p:spPr>
          <a:xfrm>
            <a:off x="6309360" y="4617720"/>
            <a:ext cx="4892040" cy="1051560"/>
          </a:xfrm>
          <a:prstGeom prst="roundRect">
            <a:avLst>
              <a:gd name="adj" fmla="val 7826"/>
            </a:avLst>
          </a:prstGeom>
          <a:solidFill>
            <a:srgbClr val="F4F7FB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73952" y="4745736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Operational result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528816" y="5093208"/>
            <a:ext cx="450799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Consistent build provenance from CGIP base image through AIB output.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Repeatable CIO deployments through CDKTF modules and image references.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Recoverable runtime using autoscale, health extension, load balancer probes and repairs.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 Prerequisites: Pre-Created Identity, Network, RBAC and Staging RGs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758952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</a:rPr>
              <a:t>Platform infra exists before developer pipelines build or release an image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1033272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0" y="655624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Azure Immutable Product • Enterprise Architecture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3474720" cy="2057400"/>
          </a:xfrm>
          <a:prstGeom prst="roundRect">
            <a:avLst>
              <a:gd name="adj" fmla="val 4000"/>
            </a:avLst>
          </a:prstGeom>
          <a:solidFill>
            <a:srgbClr val="EAF4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45336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</a:rPr>
              <a:t>Pre-created platform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3816" y="1892808"/>
            <a:ext cx="3090672" cy="1453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12 AIB staging resource groups with locked naming and tags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Private network path to Key Vault, Storage, Artifactory/GHES/ADO and Compute Gallery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Storage containers for build artifacts, AIB logs and image handoff packages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Key Vault secrets/certs accessed only by managed identity or WIF-enabled SPN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3474720" cy="2057400"/>
          </a:xfrm>
          <a:prstGeom prst="roundRect">
            <a:avLst>
              <a:gd name="adj" fmla="val 4000"/>
            </a:avLst>
          </a:prstGeom>
          <a:solidFill>
            <a:srgbClr val="F1EE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545336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4EFF"/>
                </a:solidFill>
              </a:rPr>
              <a:t>Pre-created identities and RBAC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08576" y="1892808"/>
            <a:ext cx="3090672" cy="1453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Immutable product SPN / managed identity per subscription or scope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ADO service connection uses workload identity federation instead of long-lived secrets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AIB identity granted least privilege to build RG, gallery and required network resources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CIO teams consume images through scoped role assignments, not ad-hoc owner access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3246120" cy="2057400"/>
          </a:xfrm>
          <a:prstGeom prst="roundRect">
            <a:avLst>
              <a:gd name="adj" fmla="val 4000"/>
            </a:avLst>
          </a:prstGeom>
          <a:solidFill>
            <a:srgbClr val="FFF3E5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54533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Least privilege guardrails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03336" y="1892808"/>
            <a:ext cx="2862072" cy="1453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Custom role actions allow image build, read and publish operations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NotActions deny resource types not needed for image development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Azure Policy restricts creation in staging RGs to approved AIB resources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PIM and approvals used for exceptional or elevated operations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22960" y="4069080"/>
            <a:ext cx="4846320" cy="960120"/>
          </a:xfrm>
          <a:prstGeom prst="roundRect">
            <a:avLst>
              <a:gd name="adj" fmla="val 8571"/>
            </a:avLst>
          </a:prstGeom>
          <a:solidFill>
            <a:srgbClr val="F4F7FB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069080"/>
            <a:ext cx="91440" cy="960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178808"/>
            <a:ext cx="4590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Why this matters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4480560"/>
            <a:ext cx="459028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Developers do not wait for platform plumbing during each release. The pipeline only consumes pre-approved identities, scopes and network paths, producing a repeatable and auditable image supply chain.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6400800" y="4069080"/>
            <a:ext cx="4572000" cy="960120"/>
          </a:xfrm>
          <a:prstGeom prst="roundRect">
            <a:avLst>
              <a:gd name="adj" fmla="val 8571"/>
            </a:avLst>
          </a:prstGeom>
          <a:solidFill>
            <a:srgbClr val="F4F7FB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4069080"/>
            <a:ext cx="91440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65392" y="4178808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Ownership boundary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65392" y="4480560"/>
            <a:ext cx="43159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Platform owns base infra, identity, RBAC, policy and gallery controls. CIO teams own application configuration, CDKTF variables, VMSS deployment, runtime monitoring and optional post-deploy automations.</a:t>
            </a:r>
            <a:endParaRPr lang="en-US" sz="8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 Image Creation: CGIP Base Image to AIB Output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758952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</a:rPr>
              <a:t>ADO orchestrates AIB; CGIP provides the trusted base image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1033272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0" y="655624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Azure Immutable Product • Enterprise Architecture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1737360" cy="1143000"/>
          </a:xfrm>
          <a:prstGeom prst="roundRect">
            <a:avLst>
              <a:gd name="adj" fmla="val 7200"/>
            </a:avLst>
          </a:prstGeom>
          <a:solidFill>
            <a:srgbClr val="F1EEFF"/>
          </a:solidFill>
          <a:ln w="15240">
            <a:solidFill>
              <a:srgbClr val="6B4E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65960"/>
            <a:ext cx="91440" cy="114300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07568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CGIP Base Image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2377440"/>
            <a:ext cx="148132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Enterprise-approved Windows/Linux baseline, patch level, security posture and compliance controls.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2395728" y="2532888"/>
            <a:ext cx="457200" cy="0"/>
          </a:xfrm>
          <a:prstGeom prst="line">
            <a:avLst/>
          </a:prstGeom>
          <a:noFill/>
          <a:ln w="15240">
            <a:solidFill>
              <a:srgbClr val="60708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26080" y="1965960"/>
            <a:ext cx="1737360" cy="1143000"/>
          </a:xfrm>
          <a:prstGeom prst="roundRect">
            <a:avLst>
              <a:gd name="adj" fmla="val 7200"/>
            </a:avLst>
          </a:prstGeom>
          <a:solidFill>
            <a:srgbClr val="EAF4FF"/>
          </a:solidFill>
          <a:ln w="15240">
            <a:solidFill>
              <a:srgbClr val="0078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1965960"/>
            <a:ext cx="91440" cy="11430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0672" y="207568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ADO Release Pipeline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90672" y="2377440"/>
            <a:ext cx="148132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Parameters: image definition, semantic version, build template, artifacts and validation suite.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4681728" y="2532888"/>
            <a:ext cx="457200" cy="0"/>
          </a:xfrm>
          <a:prstGeom prst="line">
            <a:avLst/>
          </a:prstGeom>
          <a:noFill/>
          <a:ln w="15240">
            <a:solidFill>
              <a:srgbClr val="60708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212080" y="1965960"/>
            <a:ext cx="1737360" cy="1143000"/>
          </a:xfrm>
          <a:prstGeom prst="roundRect">
            <a:avLst>
              <a:gd name="adj" fmla="val 7200"/>
            </a:avLst>
          </a:prstGeom>
          <a:solidFill>
            <a:srgbClr val="FFF3E5"/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1965960"/>
            <a:ext cx="91440" cy="1143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6672" y="207568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Azure Image Builder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76672" y="2377440"/>
            <a:ext cx="148132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AIB runs in the pre-created staging RG using managed identity, private network and approved customizers.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6967728" y="2532888"/>
            <a:ext cx="457200" cy="0"/>
          </a:xfrm>
          <a:prstGeom prst="line">
            <a:avLst/>
          </a:prstGeom>
          <a:noFill/>
          <a:ln w="15240">
            <a:solidFill>
              <a:srgbClr val="60708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98080" y="1965960"/>
            <a:ext cx="1737360" cy="1143000"/>
          </a:xfrm>
          <a:prstGeom prst="roundRect">
            <a:avLst>
              <a:gd name="adj" fmla="val 7200"/>
            </a:avLst>
          </a:prstGeom>
          <a:solidFill>
            <a:srgbClr val="EAF7EA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1965960"/>
            <a:ext cx="91440" cy="1143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62672" y="207568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Validation Stage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62672" y="2377440"/>
            <a:ext cx="148132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Boot validation, hardening checks, extension install, application readiness and security checks.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9253728" y="2532888"/>
            <a:ext cx="457200" cy="0"/>
          </a:xfrm>
          <a:prstGeom prst="line">
            <a:avLst/>
          </a:prstGeom>
          <a:noFill/>
          <a:ln w="15240">
            <a:solidFill>
              <a:srgbClr val="607080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784080" y="1965960"/>
            <a:ext cx="1737360" cy="1143000"/>
          </a:xfrm>
          <a:prstGeom prst="roundRect">
            <a:avLst>
              <a:gd name="adj" fmla="val 7200"/>
            </a:avLst>
          </a:prstGeom>
          <a:solidFill>
            <a:srgbClr val="EAF4FF"/>
          </a:solidFill>
          <a:ln w="15240">
            <a:solidFill>
              <a:srgbClr val="0078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84080" y="1965960"/>
            <a:ext cx="91440" cy="11430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48672" y="207568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Custom Gallery Image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948672" y="2377440"/>
            <a:ext cx="148132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Published as immutable version in Compute Gallery with metadata, EOL and replication targets.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731520" y="397764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4F7FB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" y="4105656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AIB customizer responsibilities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50976" y="4453128"/>
            <a:ext cx="3182112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Install enterprise agents and certificates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Apply OS and security configuration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Install common middleware or runtime prerequisites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Run cleanup, sysprep/generalize and image validation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4526280" y="397764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4F7FB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90872" y="410565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</a:rPr>
              <a:t>Pipeline evidence captured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45736" y="4453128"/>
            <a:ext cx="2999232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Source base image version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AIB template and artifact versions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Validation output and scan results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Approver, release notes and image metadata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8138160" y="3977640"/>
            <a:ext cx="3337560" cy="1417320"/>
          </a:xfrm>
          <a:prstGeom prst="roundRect">
            <a:avLst>
              <a:gd name="adj" fmla="val 5806"/>
            </a:avLst>
          </a:prstGeom>
          <a:solidFill>
            <a:srgbClr val="F4F7FB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02752" y="4105656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Immutable principle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357616" y="4453128"/>
            <a:ext cx="2953512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A failed build is discarded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A successful build creates a new version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Consumers upgrade through the VMSS model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Rollback means selecting a previous healthy image version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 Versioning and ADO Approval Gates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758952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</a:rPr>
              <a:t>Control when an image moves from build output to enterprise-consumable release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1033272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0" y="655624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Azure Immutable Product • Enterprise Architecture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2926080" cy="1554480"/>
          </a:xfrm>
          <a:prstGeom prst="roundRect">
            <a:avLst>
              <a:gd name="adj" fmla="val 5294"/>
            </a:avLst>
          </a:prstGeom>
          <a:solidFill>
            <a:srgbClr val="EAF4FF"/>
          </a:solidFill>
          <a:ln w="15240">
            <a:solidFill>
              <a:srgbClr val="0078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17320"/>
            <a:ext cx="91440" cy="15544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527048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Version format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1828800"/>
            <a:ext cx="267004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Major.Minor.Patch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Example: 2026.07.10 or 1.4.2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Major = OS/runtime baseline change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Minor = planned patch/hardening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Patch = urgent fix or validation-only rebuild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3840480" y="1417320"/>
            <a:ext cx="3749040" cy="1554480"/>
          </a:xfrm>
          <a:prstGeom prst="roundRect">
            <a:avLst>
              <a:gd name="adj" fmla="val 5294"/>
            </a:avLst>
          </a:prstGeom>
          <a:solidFill>
            <a:srgbClr val="F1EEFF"/>
          </a:solidFill>
          <a:ln w="15240">
            <a:solidFill>
              <a:srgbClr val="6B4E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1417320"/>
            <a:ext cx="91440" cy="155448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05072" y="1527048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Metadata controls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05072" y="1828800"/>
            <a:ext cx="349300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Release notes, owner, source commit, CGIP base version, AIB template version, EOL date, exclude-from-latest and regional replication list.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7863840" y="1417320"/>
            <a:ext cx="3383280" cy="1554480"/>
          </a:xfrm>
          <a:prstGeom prst="roundRect">
            <a:avLst>
              <a:gd name="adj" fmla="val 5294"/>
            </a:avLst>
          </a:prstGeom>
          <a:solidFill>
            <a:srgbClr val="FFF3E5"/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1417320"/>
            <a:ext cx="91440" cy="15544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8432" y="1527048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ADO approval gates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28432" y="1828800"/>
            <a:ext cx="312724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Build → Validate → Security review → Platform/CSA approval → Release to prod gallery → CIO subscription availability.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914400" y="3703320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F4F7FB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" y="3785616"/>
            <a:ext cx="1344168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Build Artifact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41448" y="3986784"/>
            <a:ext cx="438912" cy="0"/>
          </a:xfrm>
          <a:prstGeom prst="line">
            <a:avLst/>
          </a:prstGeom>
          <a:noFill/>
          <a:ln w="15240">
            <a:solidFill>
              <a:srgbClr val="60708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926080" y="3703320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F4F7FB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08376" y="3785616"/>
            <a:ext cx="1344168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Validation Evidence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453128" y="3986784"/>
            <a:ext cx="438912" cy="0"/>
          </a:xfrm>
          <a:prstGeom prst="line">
            <a:avLst/>
          </a:prstGeom>
          <a:noFill/>
          <a:ln w="15240">
            <a:solidFill>
              <a:srgbClr val="607080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937760" y="3703320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FFF3E5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0056" y="3785616"/>
            <a:ext cx="1344168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CSA Approval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464808" y="3986784"/>
            <a:ext cx="438912" cy="0"/>
          </a:xfrm>
          <a:prstGeom prst="line">
            <a:avLst/>
          </a:prstGeom>
          <a:noFill/>
          <a:ln w="15240">
            <a:solidFill>
              <a:srgbClr val="607080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949440" y="3703320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F4F7FB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31736" y="3785616"/>
            <a:ext cx="1344168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Prod Gallery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476488" y="3986784"/>
            <a:ext cx="438912" cy="0"/>
          </a:xfrm>
          <a:prstGeom prst="line">
            <a:avLst/>
          </a:prstGeom>
          <a:noFill/>
          <a:ln w="15240">
            <a:solidFill>
              <a:srgbClr val="607080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961120" y="3703320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F4F7FB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43416" y="3785616"/>
            <a:ext cx="1344168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CIO Release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14400" y="4800600"/>
            <a:ext cx="4572000" cy="1005840"/>
          </a:xfrm>
          <a:prstGeom prst="roundRect">
            <a:avLst>
              <a:gd name="adj" fmla="val 8182"/>
            </a:avLst>
          </a:prstGeom>
          <a:solidFill>
            <a:srgbClr val="F4F7FB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" y="4928616"/>
            <a:ext cx="4242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Gate criteria examples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33856" y="5276088"/>
            <a:ext cx="418795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All validators pass and image boots successfully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Security baseline and patch compliance verified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No critical vulnerability or policy exception without approval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Release notes and rollback version defined before promotion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6035040" y="4800600"/>
            <a:ext cx="4846320" cy="1005840"/>
          </a:xfrm>
          <a:prstGeom prst="roundRect">
            <a:avLst>
              <a:gd name="adj" fmla="val 8182"/>
            </a:avLst>
          </a:prstGeom>
          <a:solidFill>
            <a:srgbClr val="F4F7FB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9632" y="4928616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</a:rPr>
              <a:t>Release behavior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54496" y="5276088"/>
            <a:ext cx="446227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Approved version is replicated to target regions/galleries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CIO subscriptions get read access to approved image versions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Latest is controlled deliberately; production can pin exact versions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Deprecated versions remain until EOL for rollback window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 Copy and Release to Other Subscriptions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758952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</a:rPr>
              <a:t>Separate build subscription from production gallery and CIO consumption boundaries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1033272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0" y="655624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Azure Immutable Product • Enterprise Architecture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2423160" cy="1097280"/>
          </a:xfrm>
          <a:prstGeom prst="roundRect">
            <a:avLst>
              <a:gd name="adj" fmla="val 7500"/>
            </a:avLst>
          </a:prstGeom>
          <a:solidFill>
            <a:srgbClr val="FFF3E5"/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54480"/>
            <a:ext cx="91440" cy="10972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664208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Sandbox / Build Subscription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1965960"/>
            <a:ext cx="216712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AIB staging RGs, temporary build resources, build logs, artifacts and non-production image versions.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3200400" y="2103120"/>
            <a:ext cx="868680" cy="0"/>
          </a:xfrm>
          <a:prstGeom prst="line">
            <a:avLst/>
          </a:prstGeom>
          <a:noFill/>
          <a:ln w="17780">
            <a:solidFill>
              <a:srgbClr val="60708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160520" y="1554480"/>
            <a:ext cx="2880360" cy="1097280"/>
          </a:xfrm>
          <a:prstGeom prst="roundRect">
            <a:avLst>
              <a:gd name="adj" fmla="val 7500"/>
            </a:avLst>
          </a:prstGeom>
          <a:solidFill>
            <a:srgbClr val="EAF4FF"/>
          </a:solidFill>
          <a:ln w="15240">
            <a:solidFill>
              <a:srgbClr val="0078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0520" y="1554480"/>
            <a:ext cx="91440" cy="10972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25112" y="1664208"/>
            <a:ext cx="2624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Platform Gallery Subscription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25112" y="1965960"/>
            <a:ext cx="262432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Curated Compute Gallery image definitions and versions. Stores approved releases with regional replicas and lifecycle metadata.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7086600" y="2103120"/>
            <a:ext cx="914400" cy="0"/>
          </a:xfrm>
          <a:prstGeom prst="line">
            <a:avLst/>
          </a:prstGeom>
          <a:noFill/>
          <a:ln w="17780">
            <a:solidFill>
              <a:srgbClr val="60708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92440" y="1554480"/>
            <a:ext cx="3154680" cy="1097280"/>
          </a:xfrm>
          <a:prstGeom prst="roundRect">
            <a:avLst>
              <a:gd name="adj" fmla="val 7500"/>
            </a:avLst>
          </a:prstGeom>
          <a:solidFill>
            <a:srgbClr val="EAF7EA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1554480"/>
            <a:ext cx="91440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57032" y="1664208"/>
            <a:ext cx="2898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CIO Subscriptions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57032" y="1965960"/>
            <a:ext cx="289864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VMSS deployments consume image by gallery image version ID or shared image reference through CDKTF module input.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731520" y="3703320"/>
            <a:ext cx="4846320" cy="150876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3831336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</a:rPr>
              <a:t>Copy/promotion design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0976" y="4178808"/>
            <a:ext cx="4462272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Build output is not automatically consumable by production.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Promotion copies or publishes only approved image versions to the prod gallery.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Target regions are declared during release; replication status is checked before enablement.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Gallery permissions are granted at image definition/version scope where possible.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309360" y="3703320"/>
            <a:ext cx="4572000" cy="150876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3831336"/>
            <a:ext cx="4242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Consumer model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28816" y="4178808"/>
            <a:ext cx="4187952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CIO teams do not create base images directly.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CDKTF uses a platform module and approved image variables.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Pinned image versions allow deterministic deployment and rollback.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Release communications notify owners before version EOL or forced upgrade windows.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VMSS Creation Using CDKTF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758952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</a:rPr>
              <a:t>A standard module turns platform-approved variables into a governed VMSS deployment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1033272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0" y="655624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Azure Immutable Product • Enterprise Architecture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2834640" cy="1143000"/>
          </a:xfrm>
          <a:prstGeom prst="roundRect">
            <a:avLst>
              <a:gd name="adj" fmla="val 7200"/>
            </a:avLst>
          </a:prstGeom>
          <a:solidFill>
            <a:srgbClr val="EAF4FF"/>
          </a:solidFill>
          <a:ln w="15240">
            <a:solidFill>
              <a:srgbClr val="0078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17320"/>
            <a:ext cx="91440" cy="11430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52704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Developer Inputs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" y="1828800"/>
            <a:ext cx="257860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Application name, environment, SKU, capacity, zones, subnet, image version, autoscale thresholds, extension settings and tags.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3611880" y="1993392"/>
            <a:ext cx="685800" cy="0"/>
          </a:xfrm>
          <a:prstGeom prst="line">
            <a:avLst/>
          </a:prstGeom>
          <a:noFill/>
          <a:ln w="16510">
            <a:solidFill>
              <a:srgbClr val="60708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89120" y="1417320"/>
            <a:ext cx="3429000" cy="1143000"/>
          </a:xfrm>
          <a:prstGeom prst="roundRect">
            <a:avLst>
              <a:gd name="adj" fmla="val 7200"/>
            </a:avLst>
          </a:prstGeom>
          <a:solidFill>
            <a:srgbClr val="F1EEFF"/>
          </a:solidFill>
          <a:ln w="15240">
            <a:solidFill>
              <a:srgbClr val="6B4E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417320"/>
            <a:ext cx="91440" cy="114300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152704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CDKTF Module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53712" y="1828800"/>
            <a:ext cx="317296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Generates azurerm_linux_virtual_machine_scale_set or azurerm_windows_virtual_machine_scale_set plus identity, extensions, diagnostics and autoscale.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7909560" y="1993392"/>
            <a:ext cx="685800" cy="0"/>
          </a:xfrm>
          <a:prstGeom prst="line">
            <a:avLst/>
          </a:prstGeom>
          <a:noFill/>
          <a:ln w="16510">
            <a:solidFill>
              <a:srgbClr val="60708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686800" y="1417320"/>
            <a:ext cx="2697480" cy="1143000"/>
          </a:xfrm>
          <a:prstGeom prst="roundRect">
            <a:avLst>
              <a:gd name="adj" fmla="val 7200"/>
            </a:avLst>
          </a:prstGeom>
          <a:solidFill>
            <a:srgbClr val="EAF7EA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0" y="1417320"/>
            <a:ext cx="91440" cy="1143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1392" y="1527048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Azure Deployment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51392" y="1828800"/>
            <a:ext cx="244144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Creates or updates VMSS model, networking, load balancer/backend pool, health config, autoscale settings and role assignments.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822960" y="352044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F4F7FB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3648456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4EFF"/>
                </a:solidFill>
              </a:rPr>
              <a:t>Typical CDKTF resources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42416" y="3995928"/>
            <a:ext cx="3044952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Resource group and naming module integration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VMSS with source_image_id or gallery image reference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System/user-assigned managed identity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Application Health Extension / Custom Script Extension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Azure Monitor, diagnostics, DCR and autoscale settings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526280" y="352044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F4F7FB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0872" y="3648456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</a:rPr>
              <a:t>Enterprise module defaults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45736" y="3995928"/>
            <a:ext cx="3044952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Standard tags, naming, zones and SKU guardrails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Approved marketplace/custom image sources only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Secure boot, disk encryption and private networking defaults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Rolling upgrade policy defaults and health probe integration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8229600" y="3520440"/>
            <a:ext cx="3063240" cy="1783080"/>
          </a:xfrm>
          <a:prstGeom prst="roundRect">
            <a:avLst>
              <a:gd name="adj" fmla="val 4615"/>
            </a:avLst>
          </a:prstGeom>
          <a:solidFill>
            <a:srgbClr val="F4F7FB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94192" y="3648456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Outputs consumed by operations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49056" y="3995928"/>
            <a:ext cx="2679192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VMSS resource ID and principal ID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Load balancer backend and health references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Image version deployed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Autoscale rule IDs and alert targets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CDKTF Picks the Custom Image for VMSS Deployment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758952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</a:rPr>
              <a:t>The VMSS model points to an approved Compute Gallery image version, not a mutable server state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1033272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0" y="655624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Azure Immutable Product • Enterprise Architecture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700784"/>
            <a:ext cx="466344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const imageVersion = data.azurermSharedImageVersion("appImage",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name: var.imageVersion,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imageName: var.imageDefinitionName,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galleryName: var.galleryName,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resourceGroupName: var.galleryResourceGroup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});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new azurerm.WindowsVirtualMachineScaleSet(this, "vmss",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sourceImageId: imageVersion.id,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upgradeMode: "Rolling",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instances: var.capacity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});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074920" cy="1463040"/>
          </a:xfrm>
          <a:prstGeom prst="roundRect">
            <a:avLst>
              <a:gd name="adj" fmla="val 5625"/>
            </a:avLst>
          </a:prstGeom>
          <a:solidFill>
            <a:srgbClr val="EAF4FF"/>
          </a:solidFill>
          <a:ln w="15240">
            <a:solidFill>
              <a:srgbClr val="007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417320"/>
            <a:ext cx="91440" cy="14630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527048"/>
            <a:ext cx="4818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Image selection flow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36792" y="1828800"/>
            <a:ext cx="481888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1. Pipeline or release variable supplies imageVersion.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2. CDKTF data source resolves gallery image version ID.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3. VMSS sourceImageId is updated in the model.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4. Rolling upgrade applies the new model to instances in batches.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172200" y="3246120"/>
            <a:ext cx="5074920" cy="1325880"/>
          </a:xfrm>
          <a:prstGeom prst="roundRect">
            <a:avLst>
              <a:gd name="adj" fmla="val 6207"/>
            </a:avLst>
          </a:prstGeom>
          <a:solidFill>
            <a:srgbClr val="EAF7EA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3246120"/>
            <a:ext cx="91440" cy="1325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3355848"/>
            <a:ext cx="4818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Deployment strategies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36792" y="3657600"/>
            <a:ext cx="481888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Pinned version for production stability.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Latest alias only for non-prod or controlled ring rollout.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Previous healthy version remains available for rollback.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Version approvals happen before CDKTF deploys.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6172200" y="4892040"/>
            <a:ext cx="5074920" cy="868680"/>
          </a:xfrm>
          <a:prstGeom prst="roundRect">
            <a:avLst>
              <a:gd name="adj" fmla="val 9474"/>
            </a:avLst>
          </a:prstGeom>
          <a:solidFill>
            <a:srgbClr val="F4F7FB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6792" y="5020056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Important guardrails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91656" y="5367528"/>
            <a:ext cx="4690872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CDKTF should fail fast when image version does not exist or replication is incomplete.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Use allowed image definitions to prevent arbitrary image consumption.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Deploy exact image version in prod so every instance can be traced to the release.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VMSS Handles Rolling Image Upgrades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758952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</a:rPr>
              <a:t>Rolling mode updates the VMSS model and upgrades instances in controlled batches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1033272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0" y="655624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Azure Immutable Product • Enterprise Architecture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600200" cy="960120"/>
          </a:xfrm>
          <a:prstGeom prst="roundRect">
            <a:avLst>
              <a:gd name="adj" fmla="val 8571"/>
            </a:avLst>
          </a:prstGeom>
          <a:solidFill>
            <a:srgbClr val="FFF3E5"/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28800"/>
            <a:ext cx="91440" cy="9601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938528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Model Update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2240280"/>
            <a:ext cx="13441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CDKTF applies new source image ID and upgrade policy.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2359152" y="2304288"/>
            <a:ext cx="310896" cy="0"/>
          </a:xfrm>
          <a:prstGeom prst="line">
            <a:avLst/>
          </a:prstGeom>
          <a:noFill/>
          <a:ln w="15240">
            <a:solidFill>
              <a:srgbClr val="60708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43200" y="1828800"/>
            <a:ext cx="1600200" cy="960120"/>
          </a:xfrm>
          <a:prstGeom prst="roundRect">
            <a:avLst>
              <a:gd name="adj" fmla="val 8571"/>
            </a:avLst>
          </a:prstGeom>
          <a:solidFill>
            <a:srgbClr val="FFF3E5"/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828800"/>
            <a:ext cx="91440" cy="9601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07792" y="1938528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Batch Select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07792" y="2240280"/>
            <a:ext cx="13441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VMSS selects a safe batch based on maxBatchInstancePercent.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4370832" y="2304288"/>
            <a:ext cx="310896" cy="0"/>
          </a:xfrm>
          <a:prstGeom prst="line">
            <a:avLst/>
          </a:prstGeom>
          <a:noFill/>
          <a:ln w="15240">
            <a:solidFill>
              <a:srgbClr val="60708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754880" y="1828800"/>
            <a:ext cx="1600200" cy="960120"/>
          </a:xfrm>
          <a:prstGeom prst="roundRect">
            <a:avLst>
              <a:gd name="adj" fmla="val 8571"/>
            </a:avLst>
          </a:prstGeom>
          <a:solidFill>
            <a:srgbClr val="FFF3E5"/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828800"/>
            <a:ext cx="91440" cy="9601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938528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Surge / Replace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9472" y="2240280"/>
            <a:ext cx="13441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Optionally creates surge capacity before draining old instances.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6382512" y="2304288"/>
            <a:ext cx="310896" cy="0"/>
          </a:xfrm>
          <a:prstGeom prst="line">
            <a:avLst/>
          </a:prstGeom>
          <a:noFill/>
          <a:ln w="15240">
            <a:solidFill>
              <a:srgbClr val="60708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766560" y="1828800"/>
            <a:ext cx="1600200" cy="960120"/>
          </a:xfrm>
          <a:prstGeom prst="roundRect">
            <a:avLst>
              <a:gd name="adj" fmla="val 8571"/>
            </a:avLst>
          </a:prstGeom>
          <a:solidFill>
            <a:srgbClr val="EAF7EA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1828800"/>
            <a:ext cx="91440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31152" y="1938528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Health Gate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31152" y="2240280"/>
            <a:ext cx="13441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Waits for app health extension or load balancer probe to report healthy.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8394192" y="2304288"/>
            <a:ext cx="310896" cy="0"/>
          </a:xfrm>
          <a:prstGeom prst="line">
            <a:avLst/>
          </a:prstGeom>
          <a:noFill/>
          <a:ln w="15240">
            <a:solidFill>
              <a:srgbClr val="607080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778240" y="1828800"/>
            <a:ext cx="1600200" cy="960120"/>
          </a:xfrm>
          <a:prstGeom prst="roundRect">
            <a:avLst>
              <a:gd name="adj" fmla="val 8571"/>
            </a:avLst>
          </a:prstGeom>
          <a:solidFill>
            <a:srgbClr val="FFF3E5"/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0" y="1828800"/>
            <a:ext cx="91440" cy="9601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42832" y="1938528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Continue / Pause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942832" y="2240280"/>
            <a:ext cx="13441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Next batch starts only if health thresholds pass; otherwise upgrade pauses.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822960" y="370332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" y="3831336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Rolling policy parameters to tune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42416" y="4178808"/>
            <a:ext cx="4736592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maxBatchInstancePercent: size of each upgrade batch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maxUnhealthyInstancePercent: total unhealthy tolerance during upgrade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maxUnhealthyUpgradedInstancePercent: unhealthy tolerance among upgraded instances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pauseTimeBetweenBatches: soak time before next batch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enableCrossZoneUpgrade: balances upgrades across zones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maxSurge: creates temporary extra capacity to preserve availability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355080" y="3703320"/>
            <a:ext cx="4800600" cy="1828800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9672" y="3831336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3B3B"/>
                </a:solidFill>
              </a:rPr>
              <a:t>What happens when a batch fails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74536" y="4178808"/>
            <a:ext cx="4416552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VMSS does not blindly continue when health checks fail.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Upgrade pauses so platform/app teams can inspect the failed instances.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Rollback is performed by redeploying the previous approved image version or reverting the VMSS model.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Repairs can replace unhealthy instances after diagnostics are captured.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Autoscale, Health Extension, Probes and Instance Repair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758952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</a:rPr>
              <a:t>Operations keep capacity and health aligned after deployment and during upgrades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1033272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0" y="655624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080"/>
                </a:solidFill>
              </a:rPr>
              <a:t>Azure Immutable Product • Enterprise Architecture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EAF4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45336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</a:rPr>
              <a:t>VMSS autoscaling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3816" y="1892808"/>
            <a:ext cx="3090672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Autoscale profile defines min, default and max capacity.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Scale-out examples: CPU &gt; threshold, queue length, request count or custom metrics.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Scale-in rules should include cool-down to avoid churn during rolling upgrades.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New instances are created from the current VMSS model and selected image version.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343400" y="141732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EAF7EA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1545336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Health signal options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62856" y="1892808"/>
            <a:ext cx="3090672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Application Health Extension: agent checks HTTP/TCP endpoint inside VM.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Load Balancer health probe: external probe against backend port/path.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Use app-specific readiness endpoint, not only VM boot status.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A healthy VM must pass the health signal before next upgrade batch continues.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F1EE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7032" y="154533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4EFF"/>
                </a:solidFill>
              </a:rPr>
              <a:t>Instance repair options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11896" y="1892808"/>
            <a:ext cx="2999232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Automatic repairs can delete/reimage unhealthy instances after grace period.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Repair action uses the VMSS model, so replacement returns on the approved image.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Protect diagnostics by collecting logs before aggressive repairs.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72033"/>
                </a:solidFill>
              </a:rPr>
              <a:t>• Configure alerts for repeated repair loops or unhealthy batch thresholds.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22960" y="3840480"/>
            <a:ext cx="5074920" cy="1143000"/>
          </a:xfrm>
          <a:prstGeom prst="roundRect">
            <a:avLst>
              <a:gd name="adj" fmla="val 7200"/>
            </a:avLst>
          </a:prstGeom>
          <a:solidFill>
            <a:srgbClr val="F4F7FB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840480"/>
            <a:ext cx="91440" cy="1143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950208"/>
            <a:ext cx="4818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Post-deployment choices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4251960"/>
            <a:ext cx="48188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Platform default: Azure Function runs controlled tasks such as domain join, CMDB update, policy tagging or registration.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CIO option: Automation Account runbook can execute application-specific post-deploy activities, provided RBAC and network paths are pre-approved.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6355080" y="3840480"/>
            <a:ext cx="4800600" cy="1143000"/>
          </a:xfrm>
          <a:prstGeom prst="roundRect">
            <a:avLst>
              <a:gd name="adj" fmla="val 7200"/>
            </a:avLst>
          </a:prstGeom>
          <a:solidFill>
            <a:srgbClr val="F4F7FB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3840480"/>
            <a:ext cx="91440" cy="1143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3950208"/>
            <a:ext cx="4544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Operational ownership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19672" y="4251960"/>
            <a:ext cx="454456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72033"/>
                </a:solidFill>
              </a:rPr>
              <a:t>Platform owns image health gates, VMSS policy defaults, repair standards and shared monitoring. CIO teams own application readiness endpoint, autoscale thresholds, post-deploy scripts and release acceptance.</a:t>
            </a:r>
            <a:endParaRPr lang="en-US" sz="8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Enterprise Cloud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Immutable Product End to End</dc:title>
  <dc:subject>Azure Immutable Product End to End</dc:subject>
  <dc:creator>OpenAI</dc:creator>
  <cp:lastModifiedBy>OpenAI</cp:lastModifiedBy>
  <cp:revision>1</cp:revision>
  <dcterms:created xsi:type="dcterms:W3CDTF">2026-07-10T11:56:12Z</dcterms:created>
  <dcterms:modified xsi:type="dcterms:W3CDTF">2026-07-10T11:56:12Z</dcterms:modified>
</cp:coreProperties>
</file>